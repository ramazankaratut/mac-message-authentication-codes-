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80" r:id="rId25"/>
  </p:sldIdLst>
  <p:sldSz cx="12192000" cy="6858000"/>
  <p:notesSz cx="6858000" cy="9144000"/>
  <p:embeddedFontLst>
    <p:embeddedFont>
      <p:font typeface="Fira Code" panose="020B0809050000020004" pitchFamily="49" charset="0"/>
      <p:regular r:id="rId27"/>
      <p:bold r:id="rId28"/>
    </p:embeddedFont>
    <p:embeddedFont>
      <p:font typeface="Fira Code SemiBold" panose="020B0604020202020204" charset="0"/>
      <p:regular r:id="rId29"/>
      <p:bold r:id="rId30"/>
    </p:embeddedFont>
    <p:embeddedFont>
      <p:font typeface="Inter" panose="020B0604020202020204" charset="0"/>
      <p:regular r:id="rId31"/>
      <p:bold r:id="rId32"/>
      <p:italic r:id="rId33"/>
      <p:boldItalic r:id="rId34"/>
    </p:embeddedFont>
    <p:embeddedFont>
      <p:font typeface="Inter ExtraBold" panose="020B0604020202020204" charset="0"/>
      <p:bold r:id="rId35"/>
      <p:boldItalic r:id="rId36"/>
    </p:embeddedFont>
    <p:embeddedFont>
      <p:font typeface="Inter Medium" panose="020B0604020202020204" charset="0"/>
      <p:regular r:id="rId37"/>
      <p:bold r:id="rId38"/>
      <p:italic r:id="rId39"/>
      <p:boldItalic r:id="rId40"/>
    </p:embeddedFont>
    <p:embeddedFont>
      <p:font typeface="Inter SemiBold" panose="020B060402020202020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8CE70E3-FC57-4D0D-9F4D-AC28F3C8B1B3}">
  <a:tblStyle styleId="{88CE70E3-FC57-4D0D-9F4D-AC28F3C8B1B3}"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50" d="100"/>
          <a:sy n="150" d="100"/>
        </p:scale>
        <p:origin x="654" y="13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0" name="Google Shape;90;p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1" name="Google Shape;151;p6: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8" name="Google Shape;178;p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4" name="Google Shape;214;p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1" name="Google Shape;221;p1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0" name="Google Shape;240;p1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5" name="Google Shape;255;p1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3" name="Google Shape;283;p13: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4" name="Google Shape;304;p14: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1" name="Google Shape;311;p15: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6" name="Google Shape;326;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1"/>
        <p:cNvGrpSpPr/>
        <p:nvPr/>
      </p:nvGrpSpPr>
      <p:grpSpPr>
        <a:xfrm>
          <a:off x="0" y="0"/>
          <a:ext cx="0" cy="0"/>
          <a:chOff x="0" y="0"/>
          <a:chExt cx="0" cy="0"/>
        </a:xfrm>
      </p:grpSpPr>
      <p:sp>
        <p:nvSpPr>
          <p:cNvPr id="342" name="Google Shape;342;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43" name="Google Shape;343;p17: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3" name="Google Shape;373;p18: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0" name="Google Shape;380;p19: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6" name="Google Shape;396;p20: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9"/>
        <p:cNvGrpSpPr/>
        <p:nvPr/>
      </p:nvGrpSpPr>
      <p:grpSpPr>
        <a:xfrm>
          <a:off x="0" y="0"/>
          <a:ext cx="0" cy="0"/>
          <a:chOff x="0" y="0"/>
          <a:chExt cx="0" cy="0"/>
        </a:xfrm>
      </p:grpSpPr>
      <p:sp>
        <p:nvSpPr>
          <p:cNvPr id="410" name="Google Shape;410;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1" name="Google Shape;411;p21: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4"/>
        <p:cNvGrpSpPr/>
        <p:nvPr/>
      </p:nvGrpSpPr>
      <p:grpSpPr>
        <a:xfrm>
          <a:off x="0" y="0"/>
          <a:ext cx="0" cy="0"/>
          <a:chOff x="0" y="0"/>
          <a:chExt cx="0" cy="0"/>
        </a:xfrm>
      </p:grpSpPr>
      <p:sp>
        <p:nvSpPr>
          <p:cNvPr id="435" name="Google Shape;435;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36" name="Google Shape;436;p22:notes"/>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6" name="Google Shape;456;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a:extLst>
            <a:ext uri="{FF2B5EF4-FFF2-40B4-BE49-F238E27FC236}">
              <a16:creationId xmlns:a16="http://schemas.microsoft.com/office/drawing/2014/main" id="{F3676865-4EFA-2540-7F51-FAF6E9298B4A}"/>
            </a:ext>
          </a:extLst>
        </p:cNvPr>
        <p:cNvGrpSpPr/>
        <p:nvPr/>
      </p:nvGrpSpPr>
      <p:grpSpPr>
        <a:xfrm>
          <a:off x="0" y="0"/>
          <a:ext cx="0" cy="0"/>
          <a:chOff x="0" y="0"/>
          <a:chExt cx="0" cy="0"/>
        </a:xfrm>
      </p:grpSpPr>
      <p:sp>
        <p:nvSpPr>
          <p:cNvPr id="372" name="Google Shape;372;p18:notes">
            <a:extLst>
              <a:ext uri="{FF2B5EF4-FFF2-40B4-BE49-F238E27FC236}">
                <a16:creationId xmlns:a16="http://schemas.microsoft.com/office/drawing/2014/main" id="{587AA0BB-FE94-A8DC-89D0-C4DB3BF2A46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73" name="Google Shape;373;p18:notes">
            <a:extLst>
              <a:ext uri="{FF2B5EF4-FFF2-40B4-BE49-F238E27FC236}">
                <a16:creationId xmlns:a16="http://schemas.microsoft.com/office/drawing/2014/main" id="{6A28348F-1D5E-430A-A419-F3FF8B4241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60684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7.png"/><Relationship Id="rId13" Type="http://schemas.openxmlformats.org/officeDocument/2006/relationships/image" Target="../media/image22.png"/><Relationship Id="rId3" Type="http://schemas.openxmlformats.org/officeDocument/2006/relationships/image" Target="../media/image2.png"/><Relationship Id="rId7" Type="http://schemas.openxmlformats.org/officeDocument/2006/relationships/image" Target="../media/image16.png"/><Relationship Id="rId12"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png"/><Relationship Id="rId7"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2.png"/><Relationship Id="rId7" Type="http://schemas.openxmlformats.org/officeDocument/2006/relationships/image" Target="../media/image39.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 Id="rId9" Type="http://schemas.openxmlformats.org/officeDocument/2006/relationships/image" Target="../media/image41.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4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7.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2.png"/><Relationship Id="rId7" Type="http://schemas.openxmlformats.org/officeDocument/2006/relationships/image" Target="../media/image5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 Id="rId9" Type="http://schemas.openxmlformats.org/officeDocument/2006/relationships/image" Target="../media/image4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55.png"/><Relationship Id="rId4" Type="http://schemas.openxmlformats.org/officeDocument/2006/relationships/image" Target="../media/image54.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57.png"/><Relationship Id="rId4" Type="http://schemas.openxmlformats.org/officeDocument/2006/relationships/image" Target="../media/image56.png"/></Relationships>
</file>

<file path=ppt/slides/_rels/slide21.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2.png"/><Relationship Id="rId7" Type="http://schemas.openxmlformats.org/officeDocument/2006/relationships/image" Target="../media/image61.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 Id="rId9" Type="http://schemas.openxmlformats.org/officeDocument/2006/relationships/image" Target="../media/image41.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64.png"/><Relationship Id="rId4" Type="http://schemas.openxmlformats.org/officeDocument/2006/relationships/image" Target="../media/image63.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66.png"/><Relationship Id="rId4" Type="http://schemas.openxmlformats.org/officeDocument/2006/relationships/image" Target="../media/image65.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146050" y="-158750"/>
            <a:ext cx="12452350" cy="7219950"/>
          </a:xfrm>
          <a:prstGeom prst="rect">
            <a:avLst/>
          </a:prstGeom>
          <a:noFill/>
          <a:ln>
            <a:noFill/>
          </a:ln>
        </p:spPr>
      </p:pic>
      <p:sp>
        <p:nvSpPr>
          <p:cNvPr id="85" name="Google Shape;85;p13"/>
          <p:cNvSpPr txBox="1"/>
          <p:nvPr/>
        </p:nvSpPr>
        <p:spPr>
          <a:xfrm>
            <a:off x="1065371" y="2690068"/>
            <a:ext cx="10061257" cy="1188541"/>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3900" b="1" i="0" u="none" strike="noStrike" cap="none" dirty="0" err="1">
                <a:solidFill>
                  <a:srgbClr val="FFFFFF"/>
                </a:solidFill>
                <a:latin typeface="Inter"/>
                <a:ea typeface="Inter"/>
                <a:cs typeface="Inter"/>
                <a:sym typeface="Inter"/>
              </a:rPr>
              <a:t>Mesaj</a:t>
            </a:r>
            <a:r>
              <a:rPr lang="en-US" sz="3900" b="1" i="0" u="none" strike="noStrike" cap="none" dirty="0">
                <a:solidFill>
                  <a:srgbClr val="FFFFFF"/>
                </a:solidFill>
                <a:latin typeface="Inter"/>
                <a:ea typeface="Inter"/>
                <a:cs typeface="Inter"/>
                <a:sym typeface="Inter"/>
              </a:rPr>
              <a:t> </a:t>
            </a:r>
            <a:r>
              <a:rPr lang="en-US" sz="3900" b="1" i="0" u="none" strike="noStrike" cap="none" dirty="0" err="1">
                <a:solidFill>
                  <a:srgbClr val="FFFFFF"/>
                </a:solidFill>
                <a:latin typeface="Inter"/>
                <a:ea typeface="Inter"/>
                <a:cs typeface="Inter"/>
                <a:sym typeface="Inter"/>
              </a:rPr>
              <a:t>Kimlik</a:t>
            </a:r>
            <a:r>
              <a:rPr lang="en-US" sz="3900" b="1" i="0" u="none" strike="noStrike" cap="none" dirty="0">
                <a:solidFill>
                  <a:srgbClr val="FFFFFF"/>
                </a:solidFill>
                <a:latin typeface="Inter"/>
                <a:ea typeface="Inter"/>
                <a:cs typeface="Inter"/>
                <a:sym typeface="Inter"/>
              </a:rPr>
              <a:t> </a:t>
            </a:r>
            <a:r>
              <a:rPr lang="en-US" sz="3900" b="1" i="0" u="none" strike="noStrike" cap="none" dirty="0" err="1">
                <a:solidFill>
                  <a:srgbClr val="FFFFFF"/>
                </a:solidFill>
                <a:latin typeface="Inter"/>
                <a:ea typeface="Inter"/>
                <a:cs typeface="Inter"/>
                <a:sym typeface="Inter"/>
              </a:rPr>
              <a:t>Doğrulama</a:t>
            </a:r>
            <a:r>
              <a:rPr lang="en-US" sz="3900" b="1" i="0" u="none" strike="noStrike" cap="none" dirty="0">
                <a:solidFill>
                  <a:srgbClr val="FFFFFF"/>
                </a:solidFill>
                <a:latin typeface="Inter"/>
                <a:ea typeface="Inter"/>
                <a:cs typeface="Inter"/>
                <a:sym typeface="Inter"/>
              </a:rPr>
              <a:t> </a:t>
            </a:r>
            <a:r>
              <a:rPr lang="en-US" sz="3900" b="1" i="0" u="none" strike="noStrike" cap="none" dirty="0" err="1">
                <a:solidFill>
                  <a:srgbClr val="FFFFFF"/>
                </a:solidFill>
                <a:latin typeface="Inter"/>
                <a:ea typeface="Inter"/>
                <a:cs typeface="Inter"/>
                <a:sym typeface="Inter"/>
              </a:rPr>
              <a:t>Kodları</a:t>
            </a:r>
            <a:br>
              <a:rPr lang="en-US" sz="1800" b="0" i="0" u="none" strike="noStrike" cap="none" dirty="0">
                <a:solidFill>
                  <a:schemeClr val="dk1"/>
                </a:solidFill>
                <a:latin typeface="Calibri"/>
                <a:ea typeface="Calibri"/>
                <a:cs typeface="Calibri"/>
                <a:sym typeface="Calibri"/>
              </a:rPr>
            </a:br>
            <a:r>
              <a:rPr lang="en-US" sz="3900" b="1" i="0" u="none" strike="noStrike" cap="none" dirty="0">
                <a:solidFill>
                  <a:srgbClr val="FFFFFF"/>
                </a:solidFill>
                <a:latin typeface="Inter"/>
                <a:ea typeface="Inter"/>
                <a:cs typeface="Inter"/>
                <a:sym typeface="Inter"/>
              </a:rPr>
              <a:t> (Message Authentication Codes - MAC)</a:t>
            </a:r>
            <a:endParaRPr dirty="0"/>
          </a:p>
        </p:txBody>
      </p:sp>
      <p:sp>
        <p:nvSpPr>
          <p:cNvPr id="86" name="Google Shape;86;p13"/>
          <p:cNvSpPr txBox="1"/>
          <p:nvPr/>
        </p:nvSpPr>
        <p:spPr>
          <a:xfrm>
            <a:off x="1809750" y="4069109"/>
            <a:ext cx="8572500" cy="670321"/>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94A3B8"/>
                </a:solidFill>
                <a:latin typeface="Inter"/>
                <a:ea typeface="Inter"/>
                <a:cs typeface="Inter"/>
                <a:sym typeface="Inter"/>
              </a:rPr>
              <a:t>Veri Bütünlüğü, Kaynak Doğrulama Mekanizmaları, Güvenlik Açıkları ve Modern Çözümler</a:t>
            </a:r>
            <a:endParaRPr/>
          </a:p>
        </p:txBody>
      </p:sp>
      <p:sp>
        <p:nvSpPr>
          <p:cNvPr id="87" name="Google Shape;87;p13"/>
          <p:cNvSpPr txBox="1"/>
          <p:nvPr/>
        </p:nvSpPr>
        <p:spPr>
          <a:xfrm>
            <a:off x="676275" y="6448425"/>
            <a:ext cx="10839600" cy="1617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050">
                <a:solidFill>
                  <a:srgbClr val="64748B"/>
                </a:solidFill>
                <a:latin typeface="Inter Medium"/>
                <a:ea typeface="Inter Medium"/>
                <a:cs typeface="Inter Medium"/>
                <a:sym typeface="Inter Medium"/>
              </a:rPr>
              <a:t>Bilgi Güvenliği ve Kriptografi</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91"/>
        <p:cNvGrpSpPr/>
        <p:nvPr/>
      </p:nvGrpSpPr>
      <p:grpSpPr>
        <a:xfrm>
          <a:off x="0" y="0"/>
          <a:ext cx="0" cy="0"/>
          <a:chOff x="0" y="0"/>
          <a:chExt cx="0" cy="0"/>
        </a:xfrm>
      </p:grpSpPr>
      <p:sp>
        <p:nvSpPr>
          <p:cNvPr id="92" name="Google Shape;92;p14"/>
          <p:cNvSpPr txBox="1"/>
          <p:nvPr/>
        </p:nvSpPr>
        <p:spPr>
          <a:xfrm>
            <a:off x="5135880" y="2708969"/>
            <a:ext cx="1920240" cy="533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450" b="1" i="0" u="none" strike="noStrike" cap="none" dirty="0">
                <a:solidFill>
                  <a:srgbClr val="FFFFFF"/>
                </a:solidFill>
                <a:latin typeface="Inter"/>
                <a:ea typeface="Inter"/>
                <a:cs typeface="Inter"/>
                <a:sym typeface="Inter"/>
              </a:rPr>
              <a:t>BÖLÜM I</a:t>
            </a:r>
            <a:endParaRPr dirty="0"/>
          </a:p>
        </p:txBody>
      </p:sp>
      <p:sp>
        <p:nvSpPr>
          <p:cNvPr id="93" name="Google Shape;93;p14"/>
          <p:cNvSpPr/>
          <p:nvPr/>
        </p:nvSpPr>
        <p:spPr>
          <a:xfrm>
            <a:off x="5524500" y="3575744"/>
            <a:ext cx="1143000" cy="47625"/>
          </a:xfrm>
          <a:prstGeom prst="roundRect">
            <a:avLst>
              <a:gd name="adj" fmla="val 40000"/>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4" name="Google Shape;94;p14"/>
          <p:cNvSpPr txBox="1"/>
          <p:nvPr/>
        </p:nvSpPr>
        <p:spPr>
          <a:xfrm>
            <a:off x="2914650" y="3813869"/>
            <a:ext cx="6362700" cy="335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dirty="0">
                <a:solidFill>
                  <a:srgbClr val="38BDF8"/>
                </a:solidFill>
                <a:latin typeface="Inter"/>
                <a:ea typeface="Inter"/>
                <a:cs typeface="Inter"/>
                <a:sym typeface="Inter"/>
              </a:rPr>
              <a:t>Temel </a:t>
            </a:r>
            <a:r>
              <a:rPr lang="en-US" sz="1650" b="0" i="0" u="none" strike="noStrike" cap="none" dirty="0" err="1">
                <a:solidFill>
                  <a:srgbClr val="38BDF8"/>
                </a:solidFill>
                <a:latin typeface="Inter"/>
                <a:ea typeface="Inter"/>
                <a:cs typeface="Inter"/>
                <a:sym typeface="Inter"/>
              </a:rPr>
              <a:t>Prensipler</a:t>
            </a:r>
            <a:r>
              <a:rPr lang="en-US" sz="1650" b="0" i="0" u="none" strike="noStrike" cap="none" dirty="0">
                <a:solidFill>
                  <a:srgbClr val="38BDF8"/>
                </a:solidFill>
                <a:latin typeface="Inter"/>
                <a:ea typeface="Inter"/>
                <a:cs typeface="Inter"/>
                <a:sym typeface="Inter"/>
              </a:rPr>
              <a:t> </a:t>
            </a:r>
            <a:r>
              <a:rPr lang="en-US" sz="1650" b="0" i="0" u="none" strike="noStrike" cap="none" dirty="0" err="1">
                <a:solidFill>
                  <a:srgbClr val="38BDF8"/>
                </a:solidFill>
                <a:latin typeface="Inter"/>
                <a:ea typeface="Inter"/>
                <a:cs typeface="Inter"/>
                <a:sym typeface="Inter"/>
              </a:rPr>
              <a:t>ve</a:t>
            </a:r>
            <a:r>
              <a:rPr lang="en-US" sz="1650" b="0" i="0" u="none" strike="noStrike" cap="none" dirty="0">
                <a:solidFill>
                  <a:srgbClr val="38BDF8"/>
                </a:solidFill>
                <a:latin typeface="Inter"/>
                <a:ea typeface="Inter"/>
                <a:cs typeface="Inter"/>
                <a:sym typeface="Inter"/>
              </a:rPr>
              <a:t> </a:t>
            </a:r>
            <a:r>
              <a:rPr lang="en-US" sz="1650" b="0" i="0" u="none" strike="noStrike" cap="none" dirty="0" err="1">
                <a:solidFill>
                  <a:srgbClr val="38BDF8"/>
                </a:solidFill>
                <a:latin typeface="Inter"/>
                <a:ea typeface="Inter"/>
                <a:cs typeface="Inter"/>
                <a:sym typeface="Inter"/>
              </a:rPr>
              <a:t>Motivasyon</a:t>
            </a:r>
            <a:r>
              <a:rPr lang="en-US" sz="1650" b="0" i="0" u="none" strike="noStrike" cap="none" dirty="0">
                <a:solidFill>
                  <a:srgbClr val="38BDF8"/>
                </a:solidFill>
                <a:latin typeface="Inter"/>
                <a:ea typeface="Inter"/>
                <a:cs typeface="Inter"/>
                <a:sym typeface="Inter"/>
              </a:rPr>
              <a:t>: Veri </a:t>
            </a:r>
            <a:r>
              <a:rPr lang="en-US" sz="1650" b="0" i="0" u="none" strike="noStrike" cap="none" dirty="0" err="1">
                <a:solidFill>
                  <a:srgbClr val="38BDF8"/>
                </a:solidFill>
                <a:latin typeface="Inter"/>
                <a:ea typeface="Inter"/>
                <a:cs typeface="Inter"/>
                <a:sym typeface="Inter"/>
              </a:rPr>
              <a:t>Güvenliğinde</a:t>
            </a:r>
            <a:r>
              <a:rPr lang="en-US" sz="1650" b="0" i="0" u="none" strike="noStrike" cap="none" dirty="0">
                <a:solidFill>
                  <a:srgbClr val="38BDF8"/>
                </a:solidFill>
                <a:latin typeface="Inter"/>
                <a:ea typeface="Inter"/>
                <a:cs typeface="Inter"/>
                <a:sym typeface="Inter"/>
              </a:rPr>
              <a:t> </a:t>
            </a:r>
            <a:r>
              <a:rPr lang="en-US" sz="1650" b="0" i="0" u="none" strike="noStrike" cap="none" dirty="0" err="1">
                <a:solidFill>
                  <a:srgbClr val="38BDF8"/>
                </a:solidFill>
                <a:latin typeface="Inter"/>
                <a:ea typeface="Inter"/>
                <a:cs typeface="Inter"/>
                <a:sym typeface="Inter"/>
              </a:rPr>
              <a:t>İhtiyaç</a:t>
            </a:r>
            <a:r>
              <a:rPr lang="en-US" sz="1650" b="0" i="0" u="none" strike="noStrike" cap="none" dirty="0">
                <a:solidFill>
                  <a:srgbClr val="38BDF8"/>
                </a:solidFill>
                <a:latin typeface="Inter"/>
                <a:ea typeface="Inter"/>
                <a:cs typeface="Inter"/>
                <a:sym typeface="Inter"/>
              </a:rPr>
              <a:t> </a:t>
            </a:r>
            <a:r>
              <a:rPr lang="en-US" sz="1650" b="0" i="0" u="none" strike="noStrike" cap="none" dirty="0" err="1">
                <a:solidFill>
                  <a:srgbClr val="38BDF8"/>
                </a:solidFill>
                <a:latin typeface="Inter"/>
                <a:ea typeface="Inter"/>
                <a:cs typeface="Inter"/>
                <a:sym typeface="Inter"/>
              </a:rPr>
              <a:t>Analizi</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8"/>
        <p:cNvGrpSpPr/>
        <p:nvPr/>
      </p:nvGrpSpPr>
      <p:grpSpPr>
        <a:xfrm>
          <a:off x="0" y="0"/>
          <a:ext cx="0" cy="0"/>
          <a:chOff x="0" y="0"/>
          <a:chExt cx="0" cy="0"/>
        </a:xfrm>
      </p:grpSpPr>
      <p:pic>
        <p:nvPicPr>
          <p:cNvPr id="99" name="Google Shape;99;p15"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100" name="Google Shape;100;p15" descr="image.png"/>
          <p:cNvPicPr preferRelativeResize="0"/>
          <p:nvPr/>
        </p:nvPicPr>
        <p:blipFill rotWithShape="1">
          <a:blip r:embed="rId4">
            <a:alphaModFix/>
          </a:blip>
          <a:srcRect/>
          <a:stretch/>
        </p:blipFill>
        <p:spPr>
          <a:xfrm>
            <a:off x="676275" y="5381625"/>
            <a:ext cx="10839450" cy="990600"/>
          </a:xfrm>
          <a:prstGeom prst="rect">
            <a:avLst/>
          </a:prstGeom>
          <a:noFill/>
          <a:ln>
            <a:noFill/>
          </a:ln>
        </p:spPr>
      </p:pic>
      <p:pic>
        <p:nvPicPr>
          <p:cNvPr id="101" name="Google Shape;101;p15" descr="image.png"/>
          <p:cNvPicPr preferRelativeResize="0"/>
          <p:nvPr/>
        </p:nvPicPr>
        <p:blipFill rotWithShape="1">
          <a:blip r:embed="rId5">
            <a:alphaModFix/>
          </a:blip>
          <a:srcRect/>
          <a:stretch/>
        </p:blipFill>
        <p:spPr>
          <a:xfrm>
            <a:off x="6286500" y="1314450"/>
            <a:ext cx="5229225" cy="2795736"/>
          </a:xfrm>
          <a:prstGeom prst="rect">
            <a:avLst/>
          </a:prstGeom>
          <a:noFill/>
          <a:ln>
            <a:noFill/>
          </a:ln>
        </p:spPr>
      </p:pic>
      <p:sp>
        <p:nvSpPr>
          <p:cNvPr id="102" name="Google Shape;102;p15"/>
          <p:cNvSpPr txBox="1"/>
          <p:nvPr/>
        </p:nvSpPr>
        <p:spPr>
          <a:xfrm>
            <a:off x="1181100" y="485775"/>
            <a:ext cx="10334625"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Şifreleme Neden Kimlik Doğrulamaya Yetmez?</a:t>
            </a:r>
            <a:endParaRPr/>
          </a:p>
        </p:txBody>
      </p:sp>
      <p:sp>
        <p:nvSpPr>
          <p:cNvPr id="103" name="Google Shape;103;p15"/>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04" name="Google Shape;104;p15" descr="image.png"/>
          <p:cNvPicPr preferRelativeResize="0"/>
          <p:nvPr/>
        </p:nvPicPr>
        <p:blipFill rotWithShape="1">
          <a:blip r:embed="rId6">
            <a:alphaModFix/>
          </a:blip>
          <a:srcRect/>
          <a:stretch/>
        </p:blipFill>
        <p:spPr>
          <a:xfrm>
            <a:off x="676275" y="523875"/>
            <a:ext cx="361950" cy="361950"/>
          </a:xfrm>
          <a:prstGeom prst="rect">
            <a:avLst/>
          </a:prstGeom>
          <a:noFill/>
          <a:ln>
            <a:noFill/>
          </a:ln>
        </p:spPr>
      </p:pic>
      <p:sp>
        <p:nvSpPr>
          <p:cNvPr id="105" name="Google Shape;105;p15"/>
          <p:cNvSpPr txBox="1"/>
          <p:nvPr/>
        </p:nvSpPr>
        <p:spPr>
          <a:xfrm>
            <a:off x="676275" y="6448425"/>
            <a:ext cx="2889000" cy="1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a:solidFill>
                  <a:srgbClr val="94A3B8"/>
                </a:solidFill>
                <a:latin typeface="Inter Medium"/>
                <a:ea typeface="Inter Medium"/>
                <a:cs typeface="Inter Medium"/>
                <a:sym typeface="Inter Medium"/>
              </a:rPr>
              <a:t>Bilgi Güvenliği ve Kriptografi</a:t>
            </a:r>
            <a:endParaRPr/>
          </a:p>
        </p:txBody>
      </p:sp>
      <p:sp>
        <p:nvSpPr>
          <p:cNvPr id="106" name="Google Shape;106;p15"/>
          <p:cNvSpPr txBox="1"/>
          <p:nvPr/>
        </p:nvSpPr>
        <p:spPr>
          <a:xfrm>
            <a:off x="11068050" y="6448425"/>
            <a:ext cx="44767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3</a:t>
            </a:r>
            <a:endParaRPr/>
          </a:p>
        </p:txBody>
      </p:sp>
      <p:sp>
        <p:nvSpPr>
          <p:cNvPr id="107" name="Google Shape;107;p15"/>
          <p:cNvSpPr txBox="1"/>
          <p:nvPr/>
        </p:nvSpPr>
        <p:spPr>
          <a:xfrm>
            <a:off x="866775" y="5572125"/>
            <a:ext cx="10458450" cy="609600"/>
          </a:xfrm>
          <a:prstGeom prst="rect">
            <a:avLst/>
          </a:prstGeom>
          <a:noFill/>
          <a:ln>
            <a:noFill/>
          </a:ln>
        </p:spPr>
        <p:txBody>
          <a:bodyPr spcFirstLastPara="1" wrap="square" lIns="238125"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15803D"/>
                </a:solidFill>
                <a:latin typeface="Inter SemiBold"/>
                <a:ea typeface="Inter SemiBold"/>
                <a:cs typeface="Inter SemiBold"/>
                <a:sym typeface="Inter SemiBold"/>
              </a:rPr>
              <a:t>Stratejik Çıkarım: Gizlilik koruması, aktif manipülasyonlara ve sahteciliğe karşı tek başına bir koruma kalkanı oluşturmaz. Bütünlük doğrulaması için bağımsız bir mekanizma şarttır.</a:t>
            </a:r>
            <a:endParaRPr/>
          </a:p>
        </p:txBody>
      </p:sp>
      <p:sp>
        <p:nvSpPr>
          <p:cNvPr id="108" name="Google Shape;108;p15"/>
          <p:cNvSpPr txBox="1"/>
          <p:nvPr/>
        </p:nvSpPr>
        <p:spPr>
          <a:xfrm>
            <a:off x="676275" y="1314450"/>
            <a:ext cx="5229225" cy="115788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Geleneksel simetrik veya asimetrik şifreleme algoritmaları yalnızca </a:t>
            </a:r>
            <a:r>
              <a:rPr lang="en-US" sz="1425" b="1" i="0" u="none" strike="noStrike" cap="none">
                <a:solidFill>
                  <a:srgbClr val="475569"/>
                </a:solidFill>
                <a:latin typeface="Inter"/>
                <a:ea typeface="Inter"/>
                <a:cs typeface="Inter"/>
                <a:sym typeface="Inter"/>
              </a:rPr>
              <a:t>Gizlilik (Confidentiality)</a:t>
            </a:r>
            <a:r>
              <a:rPr lang="en-US" sz="1425" b="0" i="0" u="none" strike="noStrike" cap="none">
                <a:solidFill>
                  <a:srgbClr val="475569"/>
                </a:solidFill>
                <a:latin typeface="Inter"/>
                <a:ea typeface="Inter"/>
                <a:cs typeface="Inter"/>
                <a:sym typeface="Inter"/>
              </a:rPr>
              <a:t> sağlamaya odaklanır. Bir verinin şifrelenmiş olması, iletim esnasında kötü niyetli müdahalelere uğramadığının garantisi değildir.</a:t>
            </a:r>
            <a:endParaRPr/>
          </a:p>
        </p:txBody>
      </p:sp>
      <p:sp>
        <p:nvSpPr>
          <p:cNvPr id="109" name="Google Shape;109;p15"/>
          <p:cNvSpPr txBox="1"/>
          <p:nvPr/>
        </p:nvSpPr>
        <p:spPr>
          <a:xfrm>
            <a:off x="676275" y="2662832"/>
            <a:ext cx="5229300" cy="144750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Aktif bir saldırgan, şifreli metin üzerindeki bitleri manipüle edebilir. Alıcı taraf veriyi deşifre ettiğinde, sistem anlamsız ya da saldırganın manipülasyonu doğrultusunda değiştirilmiş sahte bir yönerge elde edebilir fakat bunun yolda değiştiğini fark edemez.</a:t>
            </a:r>
            <a:endParaRPr/>
          </a:p>
        </p:txBody>
      </p:sp>
      <p:sp>
        <p:nvSpPr>
          <p:cNvPr id="110" name="Google Shape;110;p15"/>
          <p:cNvSpPr txBox="1"/>
          <p:nvPr/>
        </p:nvSpPr>
        <p:spPr>
          <a:xfrm>
            <a:off x="6553200" y="1524000"/>
            <a:ext cx="499062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E11D48"/>
                </a:solidFill>
                <a:latin typeface="Inter"/>
                <a:ea typeface="Inter"/>
                <a:cs typeface="Inter"/>
                <a:sym typeface="Inter"/>
              </a:rPr>
              <a:t>Kritik Tasarım Yanılgısı:</a:t>
            </a:r>
            <a:endParaRPr/>
          </a:p>
        </p:txBody>
      </p:sp>
      <p:sp>
        <p:nvSpPr>
          <p:cNvPr id="111" name="Google Shape;111;p15"/>
          <p:cNvSpPr txBox="1"/>
          <p:nvPr/>
        </p:nvSpPr>
        <p:spPr>
          <a:xfrm>
            <a:off x="6553200" y="1847850"/>
            <a:ext cx="4752975" cy="115788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Şifreli bir metni deşifre edebilmek, o metnin yolda modifiye edilmediği anlamına gelmez. CBC veya CTR gibi popüler işletim modları varsayılan olarak bütünlük kontrolü sunmaz.</a:t>
            </a:r>
            <a:endParaRPr/>
          </a:p>
        </p:txBody>
      </p:sp>
      <p:pic>
        <p:nvPicPr>
          <p:cNvPr id="112" name="Google Shape;112;p15" descr="image.png"/>
          <p:cNvPicPr preferRelativeResize="0"/>
          <p:nvPr/>
        </p:nvPicPr>
        <p:blipFill rotWithShape="1">
          <a:blip r:embed="rId7">
            <a:alphaModFix/>
          </a:blip>
          <a:srcRect/>
          <a:stretch/>
        </p:blipFill>
        <p:spPr>
          <a:xfrm>
            <a:off x="1100137" y="5629275"/>
            <a:ext cx="142875" cy="190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6"/>
        <p:cNvGrpSpPr/>
        <p:nvPr/>
      </p:nvGrpSpPr>
      <p:grpSpPr>
        <a:xfrm>
          <a:off x="0" y="0"/>
          <a:ext cx="0" cy="0"/>
          <a:chOff x="0" y="0"/>
          <a:chExt cx="0" cy="0"/>
        </a:xfrm>
      </p:grpSpPr>
      <p:pic>
        <p:nvPicPr>
          <p:cNvPr id="117" name="Google Shape;117;p16"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118" name="Google Shape;118;p16" descr="image.png"/>
          <p:cNvPicPr preferRelativeResize="0"/>
          <p:nvPr/>
        </p:nvPicPr>
        <p:blipFill rotWithShape="1">
          <a:blip r:embed="rId4">
            <a:alphaModFix/>
          </a:blip>
          <a:srcRect/>
          <a:stretch/>
        </p:blipFill>
        <p:spPr>
          <a:xfrm>
            <a:off x="676275" y="2325737"/>
            <a:ext cx="10839450" cy="581025"/>
          </a:xfrm>
          <a:prstGeom prst="rect">
            <a:avLst/>
          </a:prstGeom>
          <a:noFill/>
          <a:ln>
            <a:noFill/>
          </a:ln>
        </p:spPr>
      </p:pic>
      <p:pic>
        <p:nvPicPr>
          <p:cNvPr id="119" name="Google Shape;119;p16" descr="image.png"/>
          <p:cNvPicPr preferRelativeResize="0"/>
          <p:nvPr/>
        </p:nvPicPr>
        <p:blipFill rotWithShape="1">
          <a:blip r:embed="rId5">
            <a:alphaModFix/>
          </a:blip>
          <a:srcRect/>
          <a:stretch/>
        </p:blipFill>
        <p:spPr>
          <a:xfrm>
            <a:off x="676275" y="3144887"/>
            <a:ext cx="3454300" cy="1611362"/>
          </a:xfrm>
          <a:prstGeom prst="rect">
            <a:avLst/>
          </a:prstGeom>
          <a:noFill/>
          <a:ln>
            <a:noFill/>
          </a:ln>
        </p:spPr>
      </p:pic>
      <p:pic>
        <p:nvPicPr>
          <p:cNvPr id="120" name="Google Shape;120;p16" descr="image.png"/>
          <p:cNvPicPr preferRelativeResize="0"/>
          <p:nvPr/>
        </p:nvPicPr>
        <p:blipFill rotWithShape="1">
          <a:blip r:embed="rId6">
            <a:alphaModFix/>
          </a:blip>
          <a:srcRect/>
          <a:stretch/>
        </p:blipFill>
        <p:spPr>
          <a:xfrm>
            <a:off x="4368700" y="3144887"/>
            <a:ext cx="3454449" cy="1611362"/>
          </a:xfrm>
          <a:prstGeom prst="rect">
            <a:avLst/>
          </a:prstGeom>
          <a:noFill/>
          <a:ln>
            <a:noFill/>
          </a:ln>
        </p:spPr>
      </p:pic>
      <p:pic>
        <p:nvPicPr>
          <p:cNvPr id="121" name="Google Shape;121;p16" descr="image.png"/>
          <p:cNvPicPr preferRelativeResize="0"/>
          <p:nvPr/>
        </p:nvPicPr>
        <p:blipFill rotWithShape="1">
          <a:blip r:embed="rId7">
            <a:alphaModFix/>
          </a:blip>
          <a:srcRect/>
          <a:stretch/>
        </p:blipFill>
        <p:spPr>
          <a:xfrm>
            <a:off x="8061275" y="3144887"/>
            <a:ext cx="3454300" cy="1611362"/>
          </a:xfrm>
          <a:prstGeom prst="rect">
            <a:avLst/>
          </a:prstGeom>
          <a:noFill/>
          <a:ln>
            <a:noFill/>
          </a:ln>
        </p:spPr>
      </p:pic>
      <p:sp>
        <p:nvSpPr>
          <p:cNvPr id="122" name="Google Shape;122;p16"/>
          <p:cNvSpPr txBox="1"/>
          <p:nvPr/>
        </p:nvSpPr>
        <p:spPr>
          <a:xfrm>
            <a:off x="1181100" y="485775"/>
            <a:ext cx="10334625"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MAC Kavramı ve Fonksiyonel Bileşenleri</a:t>
            </a:r>
            <a:endParaRPr/>
          </a:p>
        </p:txBody>
      </p:sp>
      <p:sp>
        <p:nvSpPr>
          <p:cNvPr id="123" name="Google Shape;123;p16"/>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24" name="Google Shape;124;p16" descr="image.png"/>
          <p:cNvPicPr preferRelativeResize="0"/>
          <p:nvPr/>
        </p:nvPicPr>
        <p:blipFill rotWithShape="1">
          <a:blip r:embed="rId8">
            <a:alphaModFix/>
          </a:blip>
          <a:srcRect/>
          <a:stretch/>
        </p:blipFill>
        <p:spPr>
          <a:xfrm>
            <a:off x="676275" y="523875"/>
            <a:ext cx="361950" cy="361950"/>
          </a:xfrm>
          <a:prstGeom prst="rect">
            <a:avLst/>
          </a:prstGeom>
          <a:noFill/>
          <a:ln>
            <a:noFill/>
          </a:ln>
        </p:spPr>
      </p:pic>
      <p:sp>
        <p:nvSpPr>
          <p:cNvPr id="125" name="Google Shape;125;p16"/>
          <p:cNvSpPr txBox="1"/>
          <p:nvPr/>
        </p:nvSpPr>
        <p:spPr>
          <a:xfrm>
            <a:off x="676275" y="1314450"/>
            <a:ext cx="1083945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Mesaj Kimlik Doğrulama Kodu (MAC), değişken uzunluktaki bir mesajı ve taraflar arasında önceden paylaşılmış gizli bir anahtarı girdi olarak kullanarak sabit uzunlukta küçük bir çıktı üreten simetrik bir kriptografik fonksiyondur. Bu çıktıya </a:t>
            </a:r>
            <a:r>
              <a:rPr lang="en-US" sz="1425" b="1" i="0" u="none" strike="noStrike" cap="none">
                <a:solidFill>
                  <a:srgbClr val="475569"/>
                </a:solidFill>
                <a:latin typeface="Inter"/>
                <a:ea typeface="Inter"/>
                <a:cs typeface="Inter"/>
                <a:sym typeface="Inter"/>
              </a:rPr>
              <a:t>kriptografik kontrol toplamı</a:t>
            </a:r>
            <a:r>
              <a:rPr lang="en-US" sz="1425" b="0" i="0" u="none" strike="noStrike" cap="none">
                <a:solidFill>
                  <a:srgbClr val="475569"/>
                </a:solidFill>
                <a:latin typeface="Inter"/>
                <a:ea typeface="Inter"/>
                <a:cs typeface="Inter"/>
                <a:sym typeface="Inter"/>
              </a:rPr>
              <a:t> veya </a:t>
            </a:r>
            <a:r>
              <a:rPr lang="en-US" sz="1425" b="1" i="0" u="none" strike="noStrike" cap="none">
                <a:solidFill>
                  <a:srgbClr val="475569"/>
                </a:solidFill>
                <a:latin typeface="Inter"/>
                <a:ea typeface="Inter"/>
                <a:cs typeface="Inter"/>
                <a:sym typeface="Inter"/>
              </a:rPr>
              <a:t>etiket (tag)</a:t>
            </a:r>
            <a:r>
              <a:rPr lang="en-US" sz="1425" b="0" i="0" u="none" strike="noStrike" cap="none">
                <a:solidFill>
                  <a:srgbClr val="475569"/>
                </a:solidFill>
                <a:latin typeface="Inter"/>
                <a:ea typeface="Inter"/>
                <a:cs typeface="Inter"/>
                <a:sym typeface="Inter"/>
              </a:rPr>
              <a:t> adı verilir.</a:t>
            </a:r>
            <a:endParaRPr/>
          </a:p>
        </p:txBody>
      </p:sp>
      <p:sp>
        <p:nvSpPr>
          <p:cNvPr id="126" name="Google Shape;126;p16"/>
          <p:cNvSpPr txBox="1"/>
          <p:nvPr/>
        </p:nvSpPr>
        <p:spPr>
          <a:xfrm>
            <a:off x="676275" y="6448425"/>
            <a:ext cx="25746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127" name="Google Shape;127;p16"/>
          <p:cNvSpPr txBox="1"/>
          <p:nvPr/>
        </p:nvSpPr>
        <p:spPr>
          <a:xfrm>
            <a:off x="11068050" y="6448425"/>
            <a:ext cx="44767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4</a:t>
            </a:r>
            <a:endParaRPr/>
          </a:p>
        </p:txBody>
      </p:sp>
      <p:sp>
        <p:nvSpPr>
          <p:cNvPr id="128" name="Google Shape;128;p16"/>
          <p:cNvSpPr txBox="1"/>
          <p:nvPr/>
        </p:nvSpPr>
        <p:spPr>
          <a:xfrm>
            <a:off x="942975" y="3354437"/>
            <a:ext cx="312695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Gizli Anahtar (k)</a:t>
            </a:r>
            <a:endParaRPr/>
          </a:p>
        </p:txBody>
      </p:sp>
      <p:sp>
        <p:nvSpPr>
          <p:cNvPr id="129" name="Google Shape;129;p16"/>
          <p:cNvSpPr txBox="1"/>
          <p:nvPr/>
        </p:nvSpPr>
        <p:spPr>
          <a:xfrm>
            <a:off x="942975" y="3678287"/>
            <a:ext cx="297805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Yalnızca meşru gönderici ve alıcı tarafından bilinen, simetrik yapıdaki gizli parametredir.</a:t>
            </a:r>
            <a:endParaRPr/>
          </a:p>
        </p:txBody>
      </p:sp>
      <p:sp>
        <p:nvSpPr>
          <p:cNvPr id="130" name="Google Shape;130;p16"/>
          <p:cNvSpPr txBox="1"/>
          <p:nvPr/>
        </p:nvSpPr>
        <p:spPr>
          <a:xfrm>
            <a:off x="4635400" y="3354437"/>
            <a:ext cx="3127109"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Girdi Mesajı (x)</a:t>
            </a:r>
            <a:endParaRPr/>
          </a:p>
        </p:txBody>
      </p:sp>
      <p:sp>
        <p:nvSpPr>
          <p:cNvPr id="131" name="Google Shape;131;p16"/>
          <p:cNvSpPr txBox="1"/>
          <p:nvPr/>
        </p:nvSpPr>
        <p:spPr>
          <a:xfrm>
            <a:off x="4635400" y="3678287"/>
            <a:ext cx="2978199"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Doğrulanmak istenen, herhangi bir bit uzunluğuna sahip olabilen veri kümesidir.</a:t>
            </a:r>
            <a:endParaRPr/>
          </a:p>
        </p:txBody>
      </p:sp>
      <p:sp>
        <p:nvSpPr>
          <p:cNvPr id="132" name="Google Shape;132;p16"/>
          <p:cNvSpPr txBox="1"/>
          <p:nvPr/>
        </p:nvSpPr>
        <p:spPr>
          <a:xfrm>
            <a:off x="8327975" y="3354437"/>
            <a:ext cx="312695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Doğrulama Etiketi (t)</a:t>
            </a:r>
            <a:endParaRPr/>
          </a:p>
        </p:txBody>
      </p:sp>
      <p:sp>
        <p:nvSpPr>
          <p:cNvPr id="133" name="Google Shape;133;p16"/>
          <p:cNvSpPr txBox="1"/>
          <p:nvPr/>
        </p:nvSpPr>
        <p:spPr>
          <a:xfrm>
            <a:off x="8327975" y="3678287"/>
            <a:ext cx="297805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İletilen verinin yanına eklenen, genellikle 128-256 bit uzunluğundaki imza değeridir.</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7"/>
        <p:cNvGrpSpPr/>
        <p:nvPr/>
      </p:nvGrpSpPr>
      <p:grpSpPr>
        <a:xfrm>
          <a:off x="0" y="0"/>
          <a:ext cx="0" cy="0"/>
          <a:chOff x="0" y="0"/>
          <a:chExt cx="0" cy="0"/>
        </a:xfrm>
      </p:grpSpPr>
      <p:pic>
        <p:nvPicPr>
          <p:cNvPr id="138" name="Google Shape;138;p17"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sp>
        <p:nvSpPr>
          <p:cNvPr id="139" name="Google Shape;139;p17"/>
          <p:cNvSpPr txBox="1"/>
          <p:nvPr/>
        </p:nvSpPr>
        <p:spPr>
          <a:xfrm>
            <a:off x="1181100" y="485775"/>
            <a:ext cx="10334625"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MAC Protokolünün İşleyiş Adımları</a:t>
            </a:r>
            <a:endParaRPr/>
          </a:p>
        </p:txBody>
      </p:sp>
      <p:sp>
        <p:nvSpPr>
          <p:cNvPr id="140" name="Google Shape;140;p17"/>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41" name="Google Shape;141;p17" descr="image.png"/>
          <p:cNvPicPr preferRelativeResize="0"/>
          <p:nvPr/>
        </p:nvPicPr>
        <p:blipFill rotWithShape="1">
          <a:blip r:embed="rId4">
            <a:alphaModFix/>
          </a:blip>
          <a:srcRect/>
          <a:stretch/>
        </p:blipFill>
        <p:spPr>
          <a:xfrm>
            <a:off x="676275" y="523875"/>
            <a:ext cx="361950" cy="361950"/>
          </a:xfrm>
          <a:prstGeom prst="rect">
            <a:avLst/>
          </a:prstGeom>
          <a:noFill/>
          <a:ln>
            <a:noFill/>
          </a:ln>
        </p:spPr>
      </p:pic>
      <p:sp>
        <p:nvSpPr>
          <p:cNvPr id="142" name="Google Shape;142;p17"/>
          <p:cNvSpPr txBox="1"/>
          <p:nvPr/>
        </p:nvSpPr>
        <p:spPr>
          <a:xfrm>
            <a:off x="676275" y="1314450"/>
            <a:ext cx="108394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Gönderici (Alice) ve Alıcı (Bob) ortak bir gizli anahtar üzerinde anlaşma sağladıktan sonra, iletişim süreci şu kurallara göre yürütülür:</a:t>
            </a:r>
            <a:endParaRPr/>
          </a:p>
        </p:txBody>
      </p:sp>
      <p:graphicFrame>
        <p:nvGraphicFramePr>
          <p:cNvPr id="143" name="Google Shape;143;p17"/>
          <p:cNvGraphicFramePr/>
          <p:nvPr/>
        </p:nvGraphicFramePr>
        <p:xfrm>
          <a:off x="676275" y="1988641"/>
          <a:ext cx="10839450" cy="2895625"/>
        </p:xfrm>
        <a:graphic>
          <a:graphicData uri="http://schemas.openxmlformats.org/drawingml/2006/table">
            <a:tbl>
              <a:tblPr firstRow="1" bandRow="1">
                <a:noFill/>
                <a:tableStyleId>{88CE70E3-FC57-4D0D-9F4D-AC28F3C8B1B3}</a:tableStyleId>
              </a:tblPr>
              <a:tblGrid>
                <a:gridCol w="1300600">
                  <a:extLst>
                    <a:ext uri="{9D8B030D-6E8A-4147-A177-3AD203B41FA5}">
                      <a16:colId xmlns:a16="http://schemas.microsoft.com/office/drawing/2014/main" val="20000"/>
                    </a:ext>
                  </a:extLst>
                </a:gridCol>
                <a:gridCol w="4769350">
                  <a:extLst>
                    <a:ext uri="{9D8B030D-6E8A-4147-A177-3AD203B41FA5}">
                      <a16:colId xmlns:a16="http://schemas.microsoft.com/office/drawing/2014/main" val="20001"/>
                    </a:ext>
                  </a:extLst>
                </a:gridCol>
                <a:gridCol w="4769500">
                  <a:extLst>
                    <a:ext uri="{9D8B030D-6E8A-4147-A177-3AD203B41FA5}">
                      <a16:colId xmlns:a16="http://schemas.microsoft.com/office/drawing/2014/main" val="20002"/>
                    </a:ext>
                  </a:extLst>
                </a:gridCol>
              </a:tblGrid>
              <a:tr h="579125">
                <a:tc>
                  <a:txBody>
                    <a:bodyPr/>
                    <a:lstStyle/>
                    <a:p>
                      <a:pPr marL="0" marR="0" lvl="0" indent="0" algn="l" rtl="0">
                        <a:spcBef>
                          <a:spcPts val="0"/>
                        </a:spcBef>
                        <a:spcAft>
                          <a:spcPts val="0"/>
                        </a:spcAft>
                        <a:buNone/>
                      </a:pPr>
                      <a:r>
                        <a:rPr lang="en-US" sz="1275" b="0" i="0" u="none" strike="noStrike" cap="none">
                          <a:solidFill>
                            <a:srgbClr val="FFFFFF"/>
                          </a:solidFill>
                          <a:latin typeface="Inter SemiBold"/>
                          <a:ea typeface="Inter SemiBold"/>
                          <a:cs typeface="Inter SemiBold"/>
                          <a:sym typeface="Inter SemiBold"/>
                        </a:rPr>
                        <a:t>Aşama</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275" b="0" i="0" u="none" strike="noStrike" cap="none">
                          <a:solidFill>
                            <a:srgbClr val="FFFFFF"/>
                          </a:solidFill>
                          <a:latin typeface="Inter SemiBold"/>
                          <a:ea typeface="Inter SemiBold"/>
                          <a:cs typeface="Inter SemiBold"/>
                          <a:sym typeface="Inter SemiBold"/>
                        </a:rPr>
                        <a:t>Gönderici (Alice) İşlemleri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275" b="0" i="0" u="none" strike="noStrike" cap="none">
                          <a:solidFill>
                            <a:srgbClr val="FFFFFF"/>
                          </a:solidFill>
                          <a:latin typeface="Inter SemiBold"/>
                          <a:ea typeface="Inter SemiBold"/>
                          <a:cs typeface="Inter SemiBold"/>
                          <a:sym typeface="Inter SemiBold"/>
                        </a:rPr>
                        <a:t>Alıcı (Bob) İşlemleri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extLst>
                  <a:ext uri="{0D108BD9-81ED-4DB2-BD59-A6C34878D82A}">
                    <a16:rowId xmlns:a16="http://schemas.microsoft.com/office/drawing/2014/main" val="10000"/>
                  </a:ext>
                </a:extLst>
              </a:tr>
              <a:tr h="579125">
                <a:tc>
                  <a:txBody>
                    <a:bodyPr/>
                    <a:lstStyle/>
                    <a:p>
                      <a:pPr marL="0" marR="0" lvl="0" indent="0" algn="l" rtl="0">
                        <a:spcBef>
                          <a:spcPts val="0"/>
                        </a:spcBef>
                        <a:spcAft>
                          <a:spcPts val="0"/>
                        </a:spcAft>
                        <a:buNone/>
                      </a:pPr>
                      <a:r>
                        <a:rPr lang="en-US" sz="1275" b="1" i="0" u="none" strike="noStrike" cap="none">
                          <a:solidFill>
                            <a:srgbClr val="334155"/>
                          </a:solidFill>
                          <a:latin typeface="Inter"/>
                          <a:ea typeface="Inter"/>
                          <a:cs typeface="Inter"/>
                          <a:sym typeface="Inter"/>
                        </a:rPr>
                        <a:t>Adım 1</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Mesaj (x) ve gizli anahtar (k) ile etiket değerini hesaplar: </a:t>
                      </a:r>
                      <a:endParaRPr sz="1275" b="0" i="0" u="none" strike="noStrike" cap="none">
                        <a:solidFill>
                          <a:srgbClr val="334155"/>
                        </a:solidFill>
                        <a:latin typeface="Inter"/>
                        <a:ea typeface="Inter"/>
                        <a:cs typeface="Inter"/>
                        <a:sym typeface="Inter"/>
                      </a:endParaRPr>
                    </a:p>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t = MAC(k, x)</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Ağ geçidinden gelecek olan paketi bekler.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79125">
                <a:tc>
                  <a:txBody>
                    <a:bodyPr/>
                    <a:lstStyle/>
                    <a:p>
                      <a:pPr marL="0" marR="0" lvl="0" indent="0" algn="l" rtl="0">
                        <a:spcBef>
                          <a:spcPts val="0"/>
                        </a:spcBef>
                        <a:spcAft>
                          <a:spcPts val="0"/>
                        </a:spcAft>
                        <a:buNone/>
                      </a:pPr>
                      <a:r>
                        <a:rPr lang="en-US" sz="1275" b="1" i="0" u="none" strike="noStrike" cap="none">
                          <a:solidFill>
                            <a:srgbClr val="334155"/>
                          </a:solidFill>
                          <a:latin typeface="Inter"/>
                          <a:ea typeface="Inter"/>
                          <a:cs typeface="Inter"/>
                          <a:sym typeface="Inter"/>
                        </a:rPr>
                        <a:t>Adım 2</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Oluşturulan (x, t) paketini güvensiz kanal üzerinden alıcıya gönderir.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Gönderilen (x, t) veri ikilisini hattan teslim alır.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r h="579125">
                <a:tc>
                  <a:txBody>
                    <a:bodyPr/>
                    <a:lstStyle/>
                    <a:p>
                      <a:pPr marL="0" marR="0" lvl="0" indent="0" algn="l" rtl="0">
                        <a:spcBef>
                          <a:spcPts val="0"/>
                        </a:spcBef>
                        <a:spcAft>
                          <a:spcPts val="0"/>
                        </a:spcAft>
                        <a:buNone/>
                      </a:pPr>
                      <a:r>
                        <a:rPr lang="en-US" sz="1275" b="1" i="0" u="none" strike="noStrike" cap="none">
                          <a:solidFill>
                            <a:srgbClr val="334155"/>
                          </a:solidFill>
                          <a:latin typeface="Inter"/>
                          <a:ea typeface="Inter"/>
                          <a:cs typeface="Inter"/>
                          <a:sym typeface="Inter"/>
                        </a:rPr>
                        <a:t>Adım 3</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1" u="none" strike="noStrike" cap="none">
                          <a:solidFill>
                            <a:srgbClr val="334155"/>
                          </a:solidFill>
                          <a:latin typeface="Inter"/>
                          <a:ea typeface="Inter"/>
                          <a:cs typeface="Inter"/>
                          <a:sym typeface="Inter"/>
                        </a:rPr>
                        <a:t>Aktif İşlem Yok (Doğrulama Bekleniyor)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Gelen mesaj (x) ve elindeki gizli anahtar (k) ile kendi etiketini hesaplar: t' = MAC(k, x)</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79125">
                <a:tc>
                  <a:txBody>
                    <a:bodyPr/>
                    <a:lstStyle/>
                    <a:p>
                      <a:pPr marL="0" marR="0" lvl="0" indent="0" algn="l" rtl="0">
                        <a:spcBef>
                          <a:spcPts val="0"/>
                        </a:spcBef>
                        <a:spcAft>
                          <a:spcPts val="0"/>
                        </a:spcAft>
                        <a:buNone/>
                      </a:pPr>
                      <a:r>
                        <a:rPr lang="en-US" sz="1275" b="1" i="0" u="none" strike="noStrike" cap="none">
                          <a:solidFill>
                            <a:srgbClr val="334155"/>
                          </a:solidFill>
                          <a:latin typeface="Inter"/>
                          <a:ea typeface="Inter"/>
                          <a:cs typeface="Inter"/>
                          <a:sym typeface="Inter"/>
                        </a:rPr>
                        <a:t>Adım 4</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75" b="0" i="1" u="none" strike="noStrike" cap="none">
                          <a:solidFill>
                            <a:srgbClr val="334155"/>
                          </a:solidFill>
                          <a:latin typeface="Inter"/>
                          <a:ea typeface="Inter"/>
                          <a:cs typeface="Inter"/>
                          <a:sym typeface="Inter"/>
                        </a:rPr>
                        <a:t>İletişim Tamamlandı</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Eğer t' ile gelen t değeri birbirine eşitse veriyi kabul eder, aksi halde reddeder.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4"/>
                  </a:ext>
                </a:extLst>
              </a:tr>
            </a:tbl>
          </a:graphicData>
        </a:graphic>
      </p:graphicFrame>
      <p:sp>
        <p:nvSpPr>
          <p:cNvPr id="144" name="Google Shape;144;p17"/>
          <p:cNvSpPr txBox="1"/>
          <p:nvPr/>
        </p:nvSpPr>
        <p:spPr>
          <a:xfrm>
            <a:off x="676275" y="6448425"/>
            <a:ext cx="23229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145" name="Google Shape;145;p17"/>
          <p:cNvSpPr txBox="1"/>
          <p:nvPr/>
        </p:nvSpPr>
        <p:spPr>
          <a:xfrm>
            <a:off x="11077575" y="6448425"/>
            <a:ext cx="43815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5</a:t>
            </a:r>
            <a:endParaRPr/>
          </a:p>
        </p:txBody>
      </p:sp>
      <p:sp>
        <p:nvSpPr>
          <p:cNvPr id="146" name="Google Shape;146;p17"/>
          <p:cNvSpPr/>
          <p:nvPr/>
        </p:nvSpPr>
        <p:spPr>
          <a:xfrm>
            <a:off x="676275" y="4869953"/>
            <a:ext cx="1300608"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7" name="Google Shape;147;p17"/>
          <p:cNvSpPr/>
          <p:nvPr/>
        </p:nvSpPr>
        <p:spPr>
          <a:xfrm>
            <a:off x="1976883" y="4869953"/>
            <a:ext cx="476934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8" name="Google Shape;148;p17"/>
          <p:cNvSpPr/>
          <p:nvPr/>
        </p:nvSpPr>
        <p:spPr>
          <a:xfrm>
            <a:off x="6746230" y="4869953"/>
            <a:ext cx="476949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2"/>
        <p:cNvGrpSpPr/>
        <p:nvPr/>
      </p:nvGrpSpPr>
      <p:grpSpPr>
        <a:xfrm>
          <a:off x="0" y="0"/>
          <a:ext cx="0" cy="0"/>
          <a:chOff x="0" y="0"/>
          <a:chExt cx="0" cy="0"/>
        </a:xfrm>
      </p:grpSpPr>
      <p:pic>
        <p:nvPicPr>
          <p:cNvPr id="153" name="Google Shape;153;p18"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154" name="Google Shape;154;p18" descr="image.png"/>
          <p:cNvPicPr preferRelativeResize="0"/>
          <p:nvPr/>
        </p:nvPicPr>
        <p:blipFill rotWithShape="1">
          <a:blip r:embed="rId4">
            <a:alphaModFix/>
          </a:blip>
          <a:srcRect/>
          <a:stretch/>
        </p:blipFill>
        <p:spPr>
          <a:xfrm>
            <a:off x="676275" y="2083891"/>
            <a:ext cx="10839450" cy="2152650"/>
          </a:xfrm>
          <a:prstGeom prst="rect">
            <a:avLst/>
          </a:prstGeom>
          <a:noFill/>
          <a:ln>
            <a:noFill/>
          </a:ln>
        </p:spPr>
      </p:pic>
      <p:pic>
        <p:nvPicPr>
          <p:cNvPr id="155" name="Google Shape;155;p18" descr="image.png"/>
          <p:cNvPicPr preferRelativeResize="0"/>
          <p:nvPr/>
        </p:nvPicPr>
        <p:blipFill rotWithShape="1">
          <a:blip r:embed="rId5">
            <a:alphaModFix/>
          </a:blip>
          <a:srcRect/>
          <a:stretch/>
        </p:blipFill>
        <p:spPr>
          <a:xfrm>
            <a:off x="676275" y="4474666"/>
            <a:ext cx="10839450" cy="1287512"/>
          </a:xfrm>
          <a:prstGeom prst="rect">
            <a:avLst/>
          </a:prstGeom>
          <a:noFill/>
          <a:ln>
            <a:noFill/>
          </a:ln>
        </p:spPr>
      </p:pic>
      <p:pic>
        <p:nvPicPr>
          <p:cNvPr id="156" name="Google Shape;156;p18" descr="image.png"/>
          <p:cNvPicPr preferRelativeResize="0"/>
          <p:nvPr/>
        </p:nvPicPr>
        <p:blipFill rotWithShape="1">
          <a:blip r:embed="rId6">
            <a:alphaModFix/>
          </a:blip>
          <a:srcRect/>
          <a:stretch/>
        </p:blipFill>
        <p:spPr>
          <a:xfrm>
            <a:off x="3305175" y="2984003"/>
            <a:ext cx="1647825" cy="238125"/>
          </a:xfrm>
          <a:prstGeom prst="rect">
            <a:avLst/>
          </a:prstGeom>
          <a:noFill/>
          <a:ln>
            <a:noFill/>
          </a:ln>
        </p:spPr>
      </p:pic>
      <p:pic>
        <p:nvPicPr>
          <p:cNvPr id="157" name="Google Shape;157;p18" descr="image.png"/>
          <p:cNvPicPr preferRelativeResize="0"/>
          <p:nvPr/>
        </p:nvPicPr>
        <p:blipFill rotWithShape="1">
          <a:blip r:embed="rId7">
            <a:alphaModFix/>
          </a:blip>
          <a:srcRect/>
          <a:stretch/>
        </p:blipFill>
        <p:spPr>
          <a:xfrm>
            <a:off x="7524750" y="2984003"/>
            <a:ext cx="1362075" cy="238125"/>
          </a:xfrm>
          <a:prstGeom prst="rect">
            <a:avLst/>
          </a:prstGeom>
          <a:noFill/>
          <a:ln>
            <a:noFill/>
          </a:ln>
        </p:spPr>
      </p:pic>
      <p:sp>
        <p:nvSpPr>
          <p:cNvPr id="158" name="Google Shape;158;p18"/>
          <p:cNvSpPr txBox="1"/>
          <p:nvPr/>
        </p:nvSpPr>
        <p:spPr>
          <a:xfrm>
            <a:off x="1276350" y="485775"/>
            <a:ext cx="10239375"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MAC İletişim Akışının Görsel Şeması</a:t>
            </a:r>
            <a:endParaRPr/>
          </a:p>
        </p:txBody>
      </p:sp>
      <p:sp>
        <p:nvSpPr>
          <p:cNvPr id="159" name="Google Shape;159;p18"/>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60" name="Google Shape;160;p18" descr="image.png"/>
          <p:cNvPicPr preferRelativeResize="0"/>
          <p:nvPr/>
        </p:nvPicPr>
        <p:blipFill rotWithShape="1">
          <a:blip r:embed="rId8">
            <a:alphaModFix/>
          </a:blip>
          <a:srcRect/>
          <a:stretch/>
        </p:blipFill>
        <p:spPr>
          <a:xfrm>
            <a:off x="676275" y="523875"/>
            <a:ext cx="457200" cy="361950"/>
          </a:xfrm>
          <a:prstGeom prst="rect">
            <a:avLst/>
          </a:prstGeom>
          <a:noFill/>
          <a:ln>
            <a:noFill/>
          </a:ln>
        </p:spPr>
      </p:pic>
      <p:sp>
        <p:nvSpPr>
          <p:cNvPr id="161" name="Google Shape;161;p18"/>
          <p:cNvSpPr txBox="1"/>
          <p:nvPr/>
        </p:nvSpPr>
        <p:spPr>
          <a:xfrm>
            <a:off x="676275" y="1314450"/>
            <a:ext cx="108394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Güvensiz bir haberleşme kanalında Alice tarafından üretilen verilerin, aradaki üçüncü şahısların (Oscar) müdahale riskine rağmen Bob tarafında nasıl doğrulandığının mimari gösterimi:</a:t>
            </a:r>
            <a:endParaRPr/>
          </a:p>
        </p:txBody>
      </p:sp>
      <p:sp>
        <p:nvSpPr>
          <p:cNvPr id="162" name="Google Shape;162;p18"/>
          <p:cNvSpPr txBox="1"/>
          <p:nvPr/>
        </p:nvSpPr>
        <p:spPr>
          <a:xfrm>
            <a:off x="676275" y="6448425"/>
            <a:ext cx="23433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163" name="Google Shape;163;p18"/>
          <p:cNvSpPr txBox="1"/>
          <p:nvPr/>
        </p:nvSpPr>
        <p:spPr>
          <a:xfrm>
            <a:off x="11068050" y="6448425"/>
            <a:ext cx="44767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6</a:t>
            </a:r>
            <a:endParaRPr/>
          </a:p>
        </p:txBody>
      </p:sp>
      <p:sp>
        <p:nvSpPr>
          <p:cNvPr id="164" name="Google Shape;164;p18"/>
          <p:cNvSpPr txBox="1"/>
          <p:nvPr/>
        </p:nvSpPr>
        <p:spPr>
          <a:xfrm>
            <a:off x="942975" y="4684216"/>
            <a:ext cx="1036320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475569"/>
                </a:solidFill>
                <a:latin typeface="Inter"/>
                <a:ea typeface="Inter"/>
                <a:cs typeface="Inter"/>
                <a:sym typeface="Inter"/>
              </a:rPr>
              <a:t>Doğrulama Mantığı:</a:t>
            </a:r>
            <a:r>
              <a:rPr lang="en-US" sz="1425" b="0" i="0" u="none" strike="noStrike" cap="none">
                <a:solidFill>
                  <a:srgbClr val="475569"/>
                </a:solidFill>
                <a:latin typeface="Inter"/>
                <a:ea typeface="Inter"/>
                <a:cs typeface="Inter"/>
                <a:sym typeface="Inter"/>
              </a:rPr>
              <a:t> Oscar kanaldan geçen mesajı (x) yakalayıp değiştirebilir ancak gizli anahtarı bilmediği için değiştirilmiş yeni mesaja uygun geçerli bir koruma etiketi (t) üretemez. Bob, t değerlerinin uyuşmadığını görerek saldırıyı tespit eder.</a:t>
            </a:r>
            <a:endParaRPr/>
          </a:p>
        </p:txBody>
      </p:sp>
      <p:pic>
        <p:nvPicPr>
          <p:cNvPr id="165" name="Google Shape;165;p18" descr="image.png"/>
          <p:cNvPicPr preferRelativeResize="0"/>
          <p:nvPr/>
        </p:nvPicPr>
        <p:blipFill rotWithShape="1">
          <a:blip r:embed="rId9">
            <a:alphaModFix/>
          </a:blip>
          <a:srcRect/>
          <a:stretch/>
        </p:blipFill>
        <p:spPr>
          <a:xfrm>
            <a:off x="1543050" y="2426791"/>
            <a:ext cx="952500" cy="952500"/>
          </a:xfrm>
          <a:prstGeom prst="rect">
            <a:avLst/>
          </a:prstGeom>
          <a:noFill/>
          <a:ln>
            <a:noFill/>
          </a:ln>
        </p:spPr>
      </p:pic>
      <p:sp>
        <p:nvSpPr>
          <p:cNvPr id="166" name="Google Shape;166;p18"/>
          <p:cNvSpPr txBox="1"/>
          <p:nvPr/>
        </p:nvSpPr>
        <p:spPr>
          <a:xfrm>
            <a:off x="1423650" y="3478425"/>
            <a:ext cx="1191300" cy="415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a:solidFill>
                  <a:srgbClr val="1E293B"/>
                </a:solidFill>
                <a:latin typeface="Inter SemiBold"/>
                <a:ea typeface="Inter SemiBold"/>
                <a:cs typeface="Inter SemiBold"/>
                <a:sym typeface="Inter SemiBold"/>
              </a:rPr>
              <a:t>Alice</a:t>
            </a:r>
            <a:br>
              <a:rPr lang="en-US" sz="1800" b="0" i="0" u="none" strike="noStrike" cap="none">
                <a:solidFill>
                  <a:schemeClr val="dk1"/>
                </a:solidFill>
                <a:latin typeface="Calibri"/>
                <a:ea typeface="Calibri"/>
                <a:cs typeface="Calibri"/>
                <a:sym typeface="Calibri"/>
              </a:rPr>
            </a:br>
            <a:r>
              <a:rPr lang="en-US" sz="1350" b="0" i="0" u="none" strike="noStrike" cap="none">
                <a:solidFill>
                  <a:srgbClr val="1E293B"/>
                </a:solidFill>
                <a:latin typeface="Inter SemiBold"/>
                <a:ea typeface="Inter SemiBold"/>
                <a:cs typeface="Inter SemiBold"/>
                <a:sym typeface="Inter SemiBold"/>
              </a:rPr>
              <a:t>(Gönderici)</a:t>
            </a:r>
            <a:endParaRPr/>
          </a:p>
        </p:txBody>
      </p:sp>
      <p:sp>
        <p:nvSpPr>
          <p:cNvPr id="167" name="Google Shape;167;p18"/>
          <p:cNvSpPr/>
          <p:nvPr/>
        </p:nvSpPr>
        <p:spPr>
          <a:xfrm>
            <a:off x="3019425" y="3298328"/>
            <a:ext cx="2219325" cy="38100"/>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68" name="Google Shape;168;p18" descr="image.png"/>
          <p:cNvPicPr preferRelativeResize="0"/>
          <p:nvPr/>
        </p:nvPicPr>
        <p:blipFill rotWithShape="1">
          <a:blip r:embed="rId10">
            <a:alphaModFix/>
          </a:blip>
          <a:srcRect/>
          <a:stretch/>
        </p:blipFill>
        <p:spPr>
          <a:xfrm>
            <a:off x="5762625" y="2426791"/>
            <a:ext cx="952500" cy="952500"/>
          </a:xfrm>
          <a:prstGeom prst="rect">
            <a:avLst/>
          </a:prstGeom>
          <a:noFill/>
          <a:ln>
            <a:noFill/>
          </a:ln>
        </p:spPr>
      </p:pic>
      <p:sp>
        <p:nvSpPr>
          <p:cNvPr id="169" name="Google Shape;169;p18"/>
          <p:cNvSpPr txBox="1"/>
          <p:nvPr/>
        </p:nvSpPr>
        <p:spPr>
          <a:xfrm>
            <a:off x="5205963" y="3478425"/>
            <a:ext cx="2065800" cy="415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a:solidFill>
                  <a:srgbClr val="1E293B"/>
                </a:solidFill>
                <a:latin typeface="Inter SemiBold"/>
                <a:ea typeface="Inter SemiBold"/>
                <a:cs typeface="Inter SemiBold"/>
                <a:sym typeface="Inter SemiBold"/>
              </a:rPr>
              <a:t>Oscar</a:t>
            </a:r>
            <a:br>
              <a:rPr lang="en-US" sz="1800" b="0" i="0" u="none" strike="noStrike" cap="none">
                <a:solidFill>
                  <a:schemeClr val="dk1"/>
                </a:solidFill>
                <a:latin typeface="Calibri"/>
                <a:ea typeface="Calibri"/>
                <a:cs typeface="Calibri"/>
                <a:sym typeface="Calibri"/>
              </a:rPr>
            </a:br>
            <a:r>
              <a:rPr lang="en-US" sz="1350" b="0" i="0" u="none" strike="noStrike" cap="none">
                <a:solidFill>
                  <a:srgbClr val="1E293B"/>
                </a:solidFill>
                <a:latin typeface="Inter SemiBold"/>
                <a:ea typeface="Inter SemiBold"/>
                <a:cs typeface="Inter SemiBold"/>
                <a:sym typeface="Inter SemiBold"/>
              </a:rPr>
              <a:t>(Kötü Niyetli İzleyici)</a:t>
            </a:r>
            <a:endParaRPr/>
          </a:p>
        </p:txBody>
      </p:sp>
      <p:sp>
        <p:nvSpPr>
          <p:cNvPr id="170" name="Google Shape;170;p18"/>
          <p:cNvSpPr/>
          <p:nvPr/>
        </p:nvSpPr>
        <p:spPr>
          <a:xfrm>
            <a:off x="7239000" y="3298328"/>
            <a:ext cx="1933575" cy="38100"/>
          </a:xfrm>
          <a:prstGeom prst="rect">
            <a:avLst/>
          </a:prstGeom>
          <a:solidFill>
            <a:srgbClr val="94A3B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71" name="Google Shape;171;p18" descr="image.png"/>
          <p:cNvPicPr preferRelativeResize="0"/>
          <p:nvPr/>
        </p:nvPicPr>
        <p:blipFill rotWithShape="1">
          <a:blip r:embed="rId11">
            <a:alphaModFix/>
          </a:blip>
          <a:srcRect/>
          <a:stretch/>
        </p:blipFill>
        <p:spPr>
          <a:xfrm>
            <a:off x="9696450" y="2426791"/>
            <a:ext cx="952500" cy="952500"/>
          </a:xfrm>
          <a:prstGeom prst="rect">
            <a:avLst/>
          </a:prstGeom>
          <a:noFill/>
          <a:ln>
            <a:noFill/>
          </a:ln>
        </p:spPr>
      </p:pic>
      <p:sp>
        <p:nvSpPr>
          <p:cNvPr id="172" name="Google Shape;172;p18"/>
          <p:cNvSpPr txBox="1"/>
          <p:nvPr/>
        </p:nvSpPr>
        <p:spPr>
          <a:xfrm>
            <a:off x="9792000" y="3478425"/>
            <a:ext cx="761400" cy="415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350" b="0" i="0" u="none" strike="noStrike" cap="none">
                <a:solidFill>
                  <a:srgbClr val="1E293B"/>
                </a:solidFill>
                <a:latin typeface="Inter SemiBold"/>
                <a:ea typeface="Inter SemiBold"/>
                <a:cs typeface="Inter SemiBold"/>
                <a:sym typeface="Inter SemiBold"/>
              </a:rPr>
              <a:t>Bob</a:t>
            </a:r>
            <a:br>
              <a:rPr lang="en-US" sz="1800" b="0" i="0" u="none" strike="noStrike" cap="none">
                <a:solidFill>
                  <a:schemeClr val="dk1"/>
                </a:solidFill>
                <a:latin typeface="Calibri"/>
                <a:ea typeface="Calibri"/>
                <a:cs typeface="Calibri"/>
                <a:sym typeface="Calibri"/>
              </a:rPr>
            </a:br>
            <a:r>
              <a:rPr lang="en-US" sz="1350" b="0" i="0" u="none" strike="noStrike" cap="none">
                <a:solidFill>
                  <a:srgbClr val="1E293B"/>
                </a:solidFill>
                <a:latin typeface="Inter SemiBold"/>
                <a:ea typeface="Inter SemiBold"/>
                <a:cs typeface="Inter SemiBold"/>
                <a:sym typeface="Inter SemiBold"/>
              </a:rPr>
              <a:t>(Alıcı)</a:t>
            </a:r>
            <a:endParaRPr/>
          </a:p>
        </p:txBody>
      </p:sp>
      <p:pic>
        <p:nvPicPr>
          <p:cNvPr id="173" name="Google Shape;173;p18" descr="image.png"/>
          <p:cNvPicPr preferRelativeResize="0"/>
          <p:nvPr/>
        </p:nvPicPr>
        <p:blipFill rotWithShape="1">
          <a:blip r:embed="rId12">
            <a:alphaModFix/>
          </a:blip>
          <a:srcRect/>
          <a:stretch/>
        </p:blipFill>
        <p:spPr>
          <a:xfrm>
            <a:off x="1866900" y="2731591"/>
            <a:ext cx="304800" cy="342900"/>
          </a:xfrm>
          <a:prstGeom prst="rect">
            <a:avLst/>
          </a:prstGeom>
          <a:noFill/>
          <a:ln>
            <a:noFill/>
          </a:ln>
        </p:spPr>
      </p:pic>
      <p:pic>
        <p:nvPicPr>
          <p:cNvPr id="174" name="Google Shape;174;p18" descr="image.png"/>
          <p:cNvPicPr preferRelativeResize="0"/>
          <p:nvPr/>
        </p:nvPicPr>
        <p:blipFill rotWithShape="1">
          <a:blip r:embed="rId13">
            <a:alphaModFix/>
          </a:blip>
          <a:srcRect/>
          <a:stretch/>
        </p:blipFill>
        <p:spPr>
          <a:xfrm>
            <a:off x="6086475" y="2731591"/>
            <a:ext cx="304800" cy="342900"/>
          </a:xfrm>
          <a:prstGeom prst="rect">
            <a:avLst/>
          </a:prstGeom>
          <a:noFill/>
          <a:ln>
            <a:noFill/>
          </a:ln>
        </p:spPr>
      </p:pic>
      <p:pic>
        <p:nvPicPr>
          <p:cNvPr id="175" name="Google Shape;175;p18" descr="image.png"/>
          <p:cNvPicPr preferRelativeResize="0"/>
          <p:nvPr/>
        </p:nvPicPr>
        <p:blipFill rotWithShape="1">
          <a:blip r:embed="rId14">
            <a:alphaModFix/>
          </a:blip>
          <a:srcRect/>
          <a:stretch/>
        </p:blipFill>
        <p:spPr>
          <a:xfrm>
            <a:off x="10020300" y="2731591"/>
            <a:ext cx="304800" cy="3429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9"/>
        <p:cNvGrpSpPr/>
        <p:nvPr/>
      </p:nvGrpSpPr>
      <p:grpSpPr>
        <a:xfrm>
          <a:off x="0" y="0"/>
          <a:ext cx="0" cy="0"/>
          <a:chOff x="0" y="0"/>
          <a:chExt cx="0" cy="0"/>
        </a:xfrm>
      </p:grpSpPr>
      <p:pic>
        <p:nvPicPr>
          <p:cNvPr id="180" name="Google Shape;180;p19"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181" name="Google Shape;181;p19" descr="image.png"/>
          <p:cNvPicPr preferRelativeResize="0"/>
          <p:nvPr/>
        </p:nvPicPr>
        <p:blipFill rotWithShape="1">
          <a:blip r:embed="rId4">
            <a:alphaModFix/>
          </a:blip>
          <a:srcRect/>
          <a:stretch/>
        </p:blipFill>
        <p:spPr>
          <a:xfrm>
            <a:off x="676275" y="4512319"/>
            <a:ext cx="10839450" cy="990600"/>
          </a:xfrm>
          <a:prstGeom prst="rect">
            <a:avLst/>
          </a:prstGeom>
          <a:noFill/>
          <a:ln>
            <a:noFill/>
          </a:ln>
        </p:spPr>
      </p:pic>
      <p:pic>
        <p:nvPicPr>
          <p:cNvPr id="182" name="Google Shape;182;p19" descr="image.png"/>
          <p:cNvPicPr preferRelativeResize="0"/>
          <p:nvPr/>
        </p:nvPicPr>
        <p:blipFill rotWithShape="1">
          <a:blip r:embed="rId5">
            <a:alphaModFix/>
          </a:blip>
          <a:srcRect/>
          <a:stretch/>
        </p:blipFill>
        <p:spPr>
          <a:xfrm>
            <a:off x="676275" y="1314450"/>
            <a:ext cx="5229225" cy="2959744"/>
          </a:xfrm>
          <a:prstGeom prst="rect">
            <a:avLst/>
          </a:prstGeom>
          <a:noFill/>
          <a:ln>
            <a:noFill/>
          </a:ln>
        </p:spPr>
      </p:pic>
      <p:pic>
        <p:nvPicPr>
          <p:cNvPr id="183" name="Google Shape;183;p19" descr="image.png"/>
          <p:cNvPicPr preferRelativeResize="0"/>
          <p:nvPr/>
        </p:nvPicPr>
        <p:blipFill rotWithShape="1">
          <a:blip r:embed="rId6">
            <a:alphaModFix/>
          </a:blip>
          <a:srcRect/>
          <a:stretch/>
        </p:blipFill>
        <p:spPr>
          <a:xfrm>
            <a:off x="6286500" y="1314450"/>
            <a:ext cx="5229225" cy="2959744"/>
          </a:xfrm>
          <a:prstGeom prst="rect">
            <a:avLst/>
          </a:prstGeom>
          <a:noFill/>
          <a:ln>
            <a:noFill/>
          </a:ln>
        </p:spPr>
      </p:pic>
      <p:sp>
        <p:nvSpPr>
          <p:cNvPr id="184" name="Google Shape;184;p19"/>
          <p:cNvSpPr txBox="1"/>
          <p:nvPr/>
        </p:nvSpPr>
        <p:spPr>
          <a:xfrm>
            <a:off x="1181100" y="485775"/>
            <a:ext cx="10334700" cy="43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MAC Tarafından Eş zamanlı Sağlanan Güvenlik Hedefleri</a:t>
            </a:r>
            <a:endParaRPr/>
          </a:p>
        </p:txBody>
      </p:sp>
      <p:sp>
        <p:nvSpPr>
          <p:cNvPr id="185" name="Google Shape;185;p19"/>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86" name="Google Shape;186;p19" descr="image.png"/>
          <p:cNvPicPr preferRelativeResize="0"/>
          <p:nvPr/>
        </p:nvPicPr>
        <p:blipFill rotWithShape="1">
          <a:blip r:embed="rId7">
            <a:alphaModFix/>
          </a:blip>
          <a:srcRect/>
          <a:stretch/>
        </p:blipFill>
        <p:spPr>
          <a:xfrm>
            <a:off x="676275" y="523875"/>
            <a:ext cx="361950" cy="361950"/>
          </a:xfrm>
          <a:prstGeom prst="rect">
            <a:avLst/>
          </a:prstGeom>
          <a:noFill/>
          <a:ln>
            <a:noFill/>
          </a:ln>
        </p:spPr>
      </p:pic>
      <p:sp>
        <p:nvSpPr>
          <p:cNvPr id="187" name="Google Shape;187;p19"/>
          <p:cNvSpPr txBox="1"/>
          <p:nvPr/>
        </p:nvSpPr>
        <p:spPr>
          <a:xfrm>
            <a:off x="676275" y="6448425"/>
            <a:ext cx="22725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188" name="Google Shape;188;p19"/>
          <p:cNvSpPr txBox="1"/>
          <p:nvPr/>
        </p:nvSpPr>
        <p:spPr>
          <a:xfrm>
            <a:off x="11077575" y="6448425"/>
            <a:ext cx="43815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7</a:t>
            </a:r>
            <a:endParaRPr/>
          </a:p>
        </p:txBody>
      </p:sp>
      <p:sp>
        <p:nvSpPr>
          <p:cNvPr id="189" name="Google Shape;189;p19"/>
          <p:cNvSpPr txBox="1"/>
          <p:nvPr/>
        </p:nvSpPr>
        <p:spPr>
          <a:xfrm>
            <a:off x="866775" y="4702819"/>
            <a:ext cx="10458450" cy="609600"/>
          </a:xfrm>
          <a:prstGeom prst="rect">
            <a:avLst/>
          </a:prstGeom>
          <a:noFill/>
          <a:ln>
            <a:noFill/>
          </a:ln>
        </p:spPr>
        <p:txBody>
          <a:bodyPr spcFirstLastPara="1" wrap="square" lIns="28575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15803D"/>
                </a:solidFill>
                <a:latin typeface="Inter SemiBold"/>
                <a:ea typeface="Inter SemiBold"/>
                <a:cs typeface="Inter SemiBold"/>
                <a:sym typeface="Inter SemiBold"/>
              </a:rPr>
              <a:t>Temel Kriptografik İlke: MAC fonksiyonları, "Bu veri paketi, sistemdeki gizli anahtarı bilen bir tarafça onaylanmıştır" önermesini matematiksel kesinlikle doğrular.</a:t>
            </a:r>
            <a:endParaRPr/>
          </a:p>
        </p:txBody>
      </p:sp>
      <p:sp>
        <p:nvSpPr>
          <p:cNvPr id="190" name="Google Shape;190;p19"/>
          <p:cNvSpPr txBox="1"/>
          <p:nvPr/>
        </p:nvSpPr>
        <p:spPr>
          <a:xfrm>
            <a:off x="942975" y="1524000"/>
            <a:ext cx="499062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1. Veri Bütünlüğü (Data Integrity)</a:t>
            </a:r>
            <a:endParaRPr/>
          </a:p>
        </p:txBody>
      </p:sp>
      <p:sp>
        <p:nvSpPr>
          <p:cNvPr id="191" name="Google Shape;191;p19"/>
          <p:cNvSpPr txBox="1"/>
          <p:nvPr/>
        </p:nvSpPr>
        <p:spPr>
          <a:xfrm>
            <a:off x="942975" y="1847850"/>
            <a:ext cx="4752975"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Mesajın iletim hattı üzerindeyken üçüncü şahıslar tarafından manipüle edilmediğini, araya veri enjekte edilmediğini veya veri eksiltilmediğini garanti altına alır.</a:t>
            </a:r>
            <a:endParaRPr/>
          </a:p>
        </p:txBody>
      </p:sp>
      <p:sp>
        <p:nvSpPr>
          <p:cNvPr id="192" name="Google Shape;192;p19"/>
          <p:cNvSpPr txBox="1"/>
          <p:nvPr/>
        </p:nvSpPr>
        <p:spPr>
          <a:xfrm>
            <a:off x="942975" y="2906762"/>
            <a:ext cx="4752975"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İletilen verideki tek bir bitlik değişiklik bile kriptografik fonksiyonların çığ etkisi özelliği nedeniyle alıcı tarafta üretilecek kontrol etiketini tamamen başkalaştırır.</a:t>
            </a:r>
            <a:endParaRPr/>
          </a:p>
        </p:txBody>
      </p:sp>
      <p:sp>
        <p:nvSpPr>
          <p:cNvPr id="193" name="Google Shape;193;p19"/>
          <p:cNvSpPr txBox="1"/>
          <p:nvPr/>
        </p:nvSpPr>
        <p:spPr>
          <a:xfrm>
            <a:off x="6553200" y="1524000"/>
            <a:ext cx="499062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2. Kaynak Doğrulaması (Origin Authentication)</a:t>
            </a:r>
            <a:endParaRPr/>
          </a:p>
        </p:txBody>
      </p:sp>
      <p:sp>
        <p:nvSpPr>
          <p:cNvPr id="194" name="Google Shape;194;p19"/>
          <p:cNvSpPr txBox="1"/>
          <p:nvPr/>
        </p:nvSpPr>
        <p:spPr>
          <a:xfrm>
            <a:off x="6553200" y="1847850"/>
            <a:ext cx="4752975" cy="115788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Gelen mesajın gerçekten iddia edilen meşru göndericiden geldiğini ispatlar. Geçerli etiket kodu yalnızca gizli parametreye erişimi olan taraflarca üretilebilir.</a:t>
            </a:r>
            <a:endParaRPr/>
          </a:p>
        </p:txBody>
      </p:sp>
      <p:sp>
        <p:nvSpPr>
          <p:cNvPr id="195" name="Google Shape;195;p19"/>
          <p:cNvSpPr txBox="1"/>
          <p:nvPr/>
        </p:nvSpPr>
        <p:spPr>
          <a:xfrm>
            <a:off x="6553200" y="3196232"/>
            <a:ext cx="4752975"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Alıcı, hesapladığı değer orijinal etiketle eşleştiğinde mesajın gizli anahtarı elinde tutan karşı ortak tarafından oluşturulduğundan emin olur.</a:t>
            </a:r>
            <a:endParaRPr/>
          </a:p>
        </p:txBody>
      </p:sp>
      <p:pic>
        <p:nvPicPr>
          <p:cNvPr id="196" name="Google Shape;196;p19" descr="image.png"/>
          <p:cNvPicPr preferRelativeResize="0"/>
          <p:nvPr/>
        </p:nvPicPr>
        <p:blipFill rotWithShape="1">
          <a:blip r:embed="rId8">
            <a:alphaModFix/>
          </a:blip>
          <a:srcRect/>
          <a:stretch/>
        </p:blipFill>
        <p:spPr>
          <a:xfrm>
            <a:off x="1409700" y="4759969"/>
            <a:ext cx="190500" cy="190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0"/>
        <p:cNvGrpSpPr/>
        <p:nvPr/>
      </p:nvGrpSpPr>
      <p:grpSpPr>
        <a:xfrm>
          <a:off x="0" y="0"/>
          <a:ext cx="0" cy="0"/>
          <a:chOff x="0" y="0"/>
          <a:chExt cx="0" cy="0"/>
        </a:xfrm>
      </p:grpSpPr>
      <p:pic>
        <p:nvPicPr>
          <p:cNvPr id="201" name="Google Shape;201;p20"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sp>
        <p:nvSpPr>
          <p:cNvPr id="202" name="Google Shape;202;p20"/>
          <p:cNvSpPr txBox="1"/>
          <p:nvPr/>
        </p:nvSpPr>
        <p:spPr>
          <a:xfrm>
            <a:off x="1276350" y="485775"/>
            <a:ext cx="10239375"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Simetrik MAC ve Asimetrik Dijital İmzaların Ayrımı</a:t>
            </a:r>
            <a:endParaRPr/>
          </a:p>
        </p:txBody>
      </p:sp>
      <p:sp>
        <p:nvSpPr>
          <p:cNvPr id="203" name="Google Shape;203;p20"/>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04" name="Google Shape;204;p20" descr="image.png"/>
          <p:cNvPicPr preferRelativeResize="0"/>
          <p:nvPr/>
        </p:nvPicPr>
        <p:blipFill rotWithShape="1">
          <a:blip r:embed="rId4">
            <a:alphaModFix/>
          </a:blip>
          <a:srcRect/>
          <a:stretch/>
        </p:blipFill>
        <p:spPr>
          <a:xfrm>
            <a:off x="676275" y="523875"/>
            <a:ext cx="457200" cy="361950"/>
          </a:xfrm>
          <a:prstGeom prst="rect">
            <a:avLst/>
          </a:prstGeom>
          <a:noFill/>
          <a:ln>
            <a:noFill/>
          </a:ln>
        </p:spPr>
      </p:pic>
      <p:sp>
        <p:nvSpPr>
          <p:cNvPr id="205" name="Google Shape;205;p20"/>
          <p:cNvSpPr txBox="1"/>
          <p:nvPr/>
        </p:nvSpPr>
        <p:spPr>
          <a:xfrm>
            <a:off x="676275" y="1314450"/>
            <a:ext cx="108394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Veri bütünlüğü sağlamada kullanılan bu iki yaklaşım arasındaki en kritik fark, </a:t>
            </a:r>
            <a:r>
              <a:rPr lang="en-US" sz="1425" b="1" i="0" u="none" strike="noStrike" cap="none">
                <a:solidFill>
                  <a:srgbClr val="475569"/>
                </a:solidFill>
                <a:latin typeface="Inter"/>
                <a:ea typeface="Inter"/>
                <a:cs typeface="Inter"/>
                <a:sym typeface="Inter"/>
              </a:rPr>
              <a:t>İnkar Edilemezlik (Non-repudiation)</a:t>
            </a:r>
            <a:r>
              <a:rPr lang="en-US" sz="1425" b="0" i="0" u="none" strike="noStrike" cap="none">
                <a:solidFill>
                  <a:srgbClr val="475569"/>
                </a:solidFill>
                <a:latin typeface="Inter"/>
                <a:ea typeface="Inter"/>
                <a:cs typeface="Inter"/>
                <a:sym typeface="Inter"/>
              </a:rPr>
              <a:t> özelliğinde ortaya çıkar.</a:t>
            </a:r>
            <a:endParaRPr/>
          </a:p>
        </p:txBody>
      </p:sp>
      <p:graphicFrame>
        <p:nvGraphicFramePr>
          <p:cNvPr id="206" name="Google Shape;206;p20"/>
          <p:cNvGraphicFramePr/>
          <p:nvPr/>
        </p:nvGraphicFramePr>
        <p:xfrm>
          <a:off x="676275" y="2036266"/>
          <a:ext cx="10839450" cy="2705125"/>
        </p:xfrm>
        <a:graphic>
          <a:graphicData uri="http://schemas.openxmlformats.org/drawingml/2006/table">
            <a:tbl>
              <a:tblPr firstRow="1" bandRow="1">
                <a:noFill/>
                <a:tableStyleId>{88CE70E3-FC57-4D0D-9F4D-AC28F3C8B1B3}</a:tableStyleId>
              </a:tblPr>
              <a:tblGrid>
                <a:gridCol w="1514175">
                  <a:extLst>
                    <a:ext uri="{9D8B030D-6E8A-4147-A177-3AD203B41FA5}">
                      <a16:colId xmlns:a16="http://schemas.microsoft.com/office/drawing/2014/main" val="20000"/>
                    </a:ext>
                  </a:extLst>
                </a:gridCol>
                <a:gridCol w="4823075">
                  <a:extLst>
                    <a:ext uri="{9D8B030D-6E8A-4147-A177-3AD203B41FA5}">
                      <a16:colId xmlns:a16="http://schemas.microsoft.com/office/drawing/2014/main" val="20001"/>
                    </a:ext>
                  </a:extLst>
                </a:gridCol>
                <a:gridCol w="4502200">
                  <a:extLst>
                    <a:ext uri="{9D8B030D-6E8A-4147-A177-3AD203B41FA5}">
                      <a16:colId xmlns:a16="http://schemas.microsoft.com/office/drawing/2014/main" val="20002"/>
                    </a:ext>
                  </a:extLst>
                </a:gridCol>
              </a:tblGrid>
              <a:tr h="541025">
                <a:tc>
                  <a:txBody>
                    <a:bodyPr/>
                    <a:lstStyle/>
                    <a:p>
                      <a:pPr marL="0" marR="0" lvl="0" indent="0" algn="l" rtl="0">
                        <a:spcBef>
                          <a:spcPts val="0"/>
                        </a:spcBef>
                        <a:spcAft>
                          <a:spcPts val="0"/>
                        </a:spcAft>
                        <a:buNone/>
                      </a:pPr>
                      <a:r>
                        <a:rPr lang="en-US" sz="1275" b="0" i="0" u="none" strike="noStrike" cap="none">
                          <a:solidFill>
                            <a:srgbClr val="FFFFFF"/>
                          </a:solidFill>
                          <a:latin typeface="Inter SemiBold"/>
                          <a:ea typeface="Inter SemiBold"/>
                          <a:cs typeface="Inter SemiBold"/>
                          <a:sym typeface="Inter SemiBold"/>
                        </a:rPr>
                        <a:t>Analiz Kriteri</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275" b="0" i="0" u="none" strike="noStrike" cap="none">
                          <a:solidFill>
                            <a:srgbClr val="FFFFFF"/>
                          </a:solidFill>
                          <a:latin typeface="Inter SemiBold"/>
                          <a:ea typeface="Inter SemiBold"/>
                          <a:cs typeface="Inter SemiBold"/>
                          <a:sym typeface="Inter SemiBold"/>
                        </a:rPr>
                        <a:t>Mesaj Kimlik Doğrulama Kodu (MAC)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tc>
                  <a:txBody>
                    <a:bodyPr/>
                    <a:lstStyle/>
                    <a:p>
                      <a:pPr marL="0" marR="0" lvl="0" indent="0" algn="l" rtl="0">
                        <a:spcBef>
                          <a:spcPts val="0"/>
                        </a:spcBef>
                        <a:spcAft>
                          <a:spcPts val="0"/>
                        </a:spcAft>
                        <a:buNone/>
                      </a:pPr>
                      <a:r>
                        <a:rPr lang="en-US" sz="1275" b="0" i="0" u="none" strike="noStrike" cap="none">
                          <a:solidFill>
                            <a:srgbClr val="FFFFFF"/>
                          </a:solidFill>
                          <a:latin typeface="Inter SemiBold"/>
                          <a:ea typeface="Inter SemiBold"/>
                          <a:cs typeface="Inter SemiBold"/>
                          <a:sym typeface="Inter SemiBold"/>
                        </a:rPr>
                        <a:t>Dijital İmza (Digital Signature)</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0F172A"/>
                    </a:solidFill>
                  </a:tcPr>
                </a:tc>
                <a:extLst>
                  <a:ext uri="{0D108BD9-81ED-4DB2-BD59-A6C34878D82A}">
                    <a16:rowId xmlns:a16="http://schemas.microsoft.com/office/drawing/2014/main" val="10000"/>
                  </a:ext>
                </a:extLst>
              </a:tr>
              <a:tr h="541025">
                <a:tc>
                  <a:txBody>
                    <a:bodyPr/>
                    <a:lstStyle/>
                    <a:p>
                      <a:pPr marL="0" marR="0" lvl="0" indent="0" algn="l" rtl="0">
                        <a:spcBef>
                          <a:spcPts val="0"/>
                        </a:spcBef>
                        <a:spcAft>
                          <a:spcPts val="0"/>
                        </a:spcAft>
                        <a:buNone/>
                      </a:pPr>
                      <a:r>
                        <a:rPr lang="en-US" sz="1275" b="1" i="0" u="none" strike="noStrike" cap="none">
                          <a:solidFill>
                            <a:srgbClr val="334155"/>
                          </a:solidFill>
                          <a:latin typeface="Inter"/>
                          <a:ea typeface="Inter"/>
                          <a:cs typeface="Inter"/>
                          <a:sym typeface="Inter"/>
                        </a:rPr>
                        <a:t>Altyapı Türü</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Simetrik Mimari (Tek ve ortak bir anahtar kullanılır)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Asimetrik Mimari (Açık ve Gizli anahtar çifti kullanılır)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541025">
                <a:tc>
                  <a:txBody>
                    <a:bodyPr/>
                    <a:lstStyle/>
                    <a:p>
                      <a:pPr marL="0" marR="0" lvl="0" indent="0" algn="l" rtl="0">
                        <a:spcBef>
                          <a:spcPts val="0"/>
                        </a:spcBef>
                        <a:spcAft>
                          <a:spcPts val="0"/>
                        </a:spcAft>
                        <a:buNone/>
                      </a:pPr>
                      <a:r>
                        <a:rPr lang="en-US" sz="1275" b="1" i="0" u="none" strike="noStrike" cap="none">
                          <a:solidFill>
                            <a:srgbClr val="334155"/>
                          </a:solidFill>
                          <a:latin typeface="Inter"/>
                          <a:ea typeface="Inter"/>
                          <a:cs typeface="Inter"/>
                          <a:sym typeface="Inter"/>
                        </a:rPr>
                        <a:t>Hesaplama Hızı</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Çok yüksek hız (Hash veya Blok şifre tabanlı algoritmalar)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Düşük hız (Modüler üs alma gibi yoğun matematiksel işlemler)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2"/>
                  </a:ext>
                </a:extLst>
              </a:tr>
              <a:tr h="541025">
                <a:tc>
                  <a:txBody>
                    <a:bodyPr/>
                    <a:lstStyle/>
                    <a:p>
                      <a:pPr marL="0" marR="0" lvl="0" indent="0" algn="l" rtl="0">
                        <a:spcBef>
                          <a:spcPts val="0"/>
                        </a:spcBef>
                        <a:spcAft>
                          <a:spcPts val="0"/>
                        </a:spcAft>
                        <a:buNone/>
                      </a:pPr>
                      <a:r>
                        <a:rPr lang="en-US" sz="1275" b="1" i="0" u="none" strike="noStrike" cap="none">
                          <a:solidFill>
                            <a:srgbClr val="334155"/>
                          </a:solidFill>
                          <a:latin typeface="Inter"/>
                          <a:ea typeface="Inter"/>
                          <a:cs typeface="Inter"/>
                          <a:sym typeface="Inter"/>
                        </a:rPr>
                        <a:t>Üçüncü Taraf Kanıtı</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Alıcı mesajın kimden geldiğini anlar ancak bunu üçüncü bir tarafa (örneğin hakeme) kanıtlayamaz.</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Herkes göndericinin açık anahtarı ile imza doğrulaması yapabilir, hukuki kanıt niteliğindedir.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541025">
                <a:tc>
                  <a:txBody>
                    <a:bodyPr/>
                    <a:lstStyle/>
                    <a:p>
                      <a:pPr marL="0" marR="0" lvl="0" indent="0" algn="l" rtl="0">
                        <a:spcBef>
                          <a:spcPts val="0"/>
                        </a:spcBef>
                        <a:spcAft>
                          <a:spcPts val="0"/>
                        </a:spcAft>
                        <a:buNone/>
                      </a:pPr>
                      <a:r>
                        <a:rPr lang="en-US" sz="1275" b="1" i="0" u="none" strike="noStrike" cap="none">
                          <a:solidFill>
                            <a:srgbClr val="334155"/>
                          </a:solidFill>
                          <a:latin typeface="Inter"/>
                          <a:ea typeface="Inter"/>
                          <a:cs typeface="Inter"/>
                          <a:sym typeface="Inter"/>
                        </a:rPr>
                        <a:t>İnkar Edilemezlik</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Sağlanamaz. Alıcı da aynı ortak anahtarla sahte mesajlar üretebilecek güçtedir.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Kesin olarak sağlanır. Gizli anahtar yalnızca imza sahibine özeldir ve taklit edilemez.</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4"/>
                  </a:ext>
                </a:extLst>
              </a:tr>
            </a:tbl>
          </a:graphicData>
        </a:graphic>
      </p:graphicFrame>
      <p:sp>
        <p:nvSpPr>
          <p:cNvPr id="207" name="Google Shape;207;p20"/>
          <p:cNvSpPr txBox="1"/>
          <p:nvPr/>
        </p:nvSpPr>
        <p:spPr>
          <a:xfrm>
            <a:off x="676275" y="6448425"/>
            <a:ext cx="27276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208" name="Google Shape;208;p20"/>
          <p:cNvSpPr txBox="1"/>
          <p:nvPr/>
        </p:nvSpPr>
        <p:spPr>
          <a:xfrm>
            <a:off x="11068050" y="6448425"/>
            <a:ext cx="44767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8</a:t>
            </a:r>
            <a:endParaRPr/>
          </a:p>
        </p:txBody>
      </p:sp>
      <p:sp>
        <p:nvSpPr>
          <p:cNvPr id="209" name="Google Shape;209;p20"/>
          <p:cNvSpPr/>
          <p:nvPr/>
        </p:nvSpPr>
        <p:spPr>
          <a:xfrm>
            <a:off x="676275" y="4727078"/>
            <a:ext cx="1514177"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0" name="Google Shape;210;p20"/>
          <p:cNvSpPr/>
          <p:nvPr/>
        </p:nvSpPr>
        <p:spPr>
          <a:xfrm>
            <a:off x="2190452" y="4727078"/>
            <a:ext cx="482307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1" name="Google Shape;211;p20"/>
          <p:cNvSpPr/>
          <p:nvPr/>
        </p:nvSpPr>
        <p:spPr>
          <a:xfrm>
            <a:off x="7013525" y="4727078"/>
            <a:ext cx="450219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15"/>
        <p:cNvGrpSpPr/>
        <p:nvPr/>
      </p:nvGrpSpPr>
      <p:grpSpPr>
        <a:xfrm>
          <a:off x="0" y="0"/>
          <a:ext cx="0" cy="0"/>
          <a:chOff x="0" y="0"/>
          <a:chExt cx="0" cy="0"/>
        </a:xfrm>
      </p:grpSpPr>
      <p:sp>
        <p:nvSpPr>
          <p:cNvPr id="216" name="Google Shape;216;p21"/>
          <p:cNvSpPr txBox="1"/>
          <p:nvPr/>
        </p:nvSpPr>
        <p:spPr>
          <a:xfrm>
            <a:off x="5070871" y="2708969"/>
            <a:ext cx="2050256" cy="533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450" b="1" i="0" u="none" strike="noStrike" cap="none">
                <a:solidFill>
                  <a:srgbClr val="FFFFFF"/>
                </a:solidFill>
                <a:latin typeface="Inter"/>
                <a:ea typeface="Inter"/>
                <a:cs typeface="Inter"/>
                <a:sym typeface="Inter"/>
              </a:rPr>
              <a:t>BÖLÜM II</a:t>
            </a:r>
            <a:endParaRPr/>
          </a:p>
        </p:txBody>
      </p:sp>
      <p:sp>
        <p:nvSpPr>
          <p:cNvPr id="217" name="Google Shape;217;p21"/>
          <p:cNvSpPr/>
          <p:nvPr/>
        </p:nvSpPr>
        <p:spPr>
          <a:xfrm>
            <a:off x="5524500" y="3575744"/>
            <a:ext cx="1143000" cy="47625"/>
          </a:xfrm>
          <a:prstGeom prst="roundRect">
            <a:avLst>
              <a:gd name="adj" fmla="val 40000"/>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8" name="Google Shape;218;p21"/>
          <p:cNvSpPr txBox="1"/>
          <p:nvPr/>
        </p:nvSpPr>
        <p:spPr>
          <a:xfrm>
            <a:off x="2595562" y="3813869"/>
            <a:ext cx="7000875" cy="335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38BDF8"/>
                </a:solidFill>
                <a:latin typeface="Inter"/>
                <a:ea typeface="Inter"/>
                <a:cs typeface="Inter"/>
                <a:sym typeface="Inter"/>
              </a:rPr>
              <a:t>Hash Tabanlı MAC Tasarımları: Naif Girişimler ve Teorik Güvenlik Açıkları</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2"/>
        <p:cNvGrpSpPr/>
        <p:nvPr/>
      </p:nvGrpSpPr>
      <p:grpSpPr>
        <a:xfrm>
          <a:off x="0" y="0"/>
          <a:ext cx="0" cy="0"/>
          <a:chOff x="0" y="0"/>
          <a:chExt cx="0" cy="0"/>
        </a:xfrm>
      </p:grpSpPr>
      <p:pic>
        <p:nvPicPr>
          <p:cNvPr id="223" name="Google Shape;223;p22"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224" name="Google Shape;224;p22" descr="image.png"/>
          <p:cNvPicPr preferRelativeResize="0"/>
          <p:nvPr/>
        </p:nvPicPr>
        <p:blipFill rotWithShape="1">
          <a:blip r:embed="rId4">
            <a:alphaModFix/>
          </a:blip>
          <a:srcRect/>
          <a:stretch/>
        </p:blipFill>
        <p:spPr>
          <a:xfrm>
            <a:off x="676275" y="2036266"/>
            <a:ext cx="10839450" cy="581025"/>
          </a:xfrm>
          <a:prstGeom prst="rect">
            <a:avLst/>
          </a:prstGeom>
          <a:noFill/>
          <a:ln>
            <a:noFill/>
          </a:ln>
        </p:spPr>
      </p:pic>
      <p:pic>
        <p:nvPicPr>
          <p:cNvPr id="225" name="Google Shape;225;p22" descr="image.png"/>
          <p:cNvPicPr preferRelativeResize="0"/>
          <p:nvPr/>
        </p:nvPicPr>
        <p:blipFill rotWithShape="1">
          <a:blip r:embed="rId5">
            <a:alphaModFix/>
          </a:blip>
          <a:srcRect/>
          <a:stretch/>
        </p:blipFill>
        <p:spPr>
          <a:xfrm>
            <a:off x="676275" y="3141166"/>
            <a:ext cx="5229225" cy="1611362"/>
          </a:xfrm>
          <a:prstGeom prst="rect">
            <a:avLst/>
          </a:prstGeom>
          <a:noFill/>
          <a:ln>
            <a:noFill/>
          </a:ln>
        </p:spPr>
      </p:pic>
      <p:pic>
        <p:nvPicPr>
          <p:cNvPr id="226" name="Google Shape;226;p22" descr="image.png"/>
          <p:cNvPicPr preferRelativeResize="0"/>
          <p:nvPr/>
        </p:nvPicPr>
        <p:blipFill rotWithShape="1">
          <a:blip r:embed="rId6">
            <a:alphaModFix/>
          </a:blip>
          <a:srcRect/>
          <a:stretch/>
        </p:blipFill>
        <p:spPr>
          <a:xfrm>
            <a:off x="6286500" y="3141166"/>
            <a:ext cx="5229225" cy="1611362"/>
          </a:xfrm>
          <a:prstGeom prst="rect">
            <a:avLst/>
          </a:prstGeom>
          <a:noFill/>
          <a:ln>
            <a:noFill/>
          </a:ln>
        </p:spPr>
      </p:pic>
      <p:sp>
        <p:nvSpPr>
          <p:cNvPr id="227" name="Google Shape;227;p22"/>
          <p:cNvSpPr txBox="1"/>
          <p:nvPr/>
        </p:nvSpPr>
        <p:spPr>
          <a:xfrm>
            <a:off x="1181100" y="485775"/>
            <a:ext cx="10334625"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Gizli Önek (Secret Prefix) Yaklaşımı ve Yapısı</a:t>
            </a:r>
            <a:endParaRPr/>
          </a:p>
        </p:txBody>
      </p:sp>
      <p:sp>
        <p:nvSpPr>
          <p:cNvPr id="228" name="Google Shape;228;p22"/>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29" name="Google Shape;229;p22" descr="image.png"/>
          <p:cNvPicPr preferRelativeResize="0"/>
          <p:nvPr/>
        </p:nvPicPr>
        <p:blipFill rotWithShape="1">
          <a:blip r:embed="rId7">
            <a:alphaModFix/>
          </a:blip>
          <a:srcRect/>
          <a:stretch/>
        </p:blipFill>
        <p:spPr>
          <a:xfrm>
            <a:off x="676275" y="523875"/>
            <a:ext cx="361950" cy="361950"/>
          </a:xfrm>
          <a:prstGeom prst="rect">
            <a:avLst/>
          </a:prstGeom>
          <a:noFill/>
          <a:ln>
            <a:noFill/>
          </a:ln>
        </p:spPr>
      </p:pic>
      <p:sp>
        <p:nvSpPr>
          <p:cNvPr id="230" name="Google Shape;230;p22"/>
          <p:cNvSpPr txBox="1"/>
          <p:nvPr/>
        </p:nvSpPr>
        <p:spPr>
          <a:xfrm>
            <a:off x="676275" y="1314450"/>
            <a:ext cx="108394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Kriptografi alanındaki ilk arayışlarda, tek yönlü güvenli hash fonksiyonlarını doğrudan bir anahtarla ilişkilendirmek adına gizli anahtarın mesajın başına eklenmesi fikri ortaya atılmıştır:</a:t>
            </a:r>
            <a:endParaRPr/>
          </a:p>
        </p:txBody>
      </p:sp>
      <p:sp>
        <p:nvSpPr>
          <p:cNvPr id="231" name="Google Shape;231;p22"/>
          <p:cNvSpPr txBox="1"/>
          <p:nvPr/>
        </p:nvSpPr>
        <p:spPr>
          <a:xfrm>
            <a:off x="676275" y="6448425"/>
            <a:ext cx="25494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232" name="Google Shape;232;p22"/>
          <p:cNvSpPr txBox="1"/>
          <p:nvPr/>
        </p:nvSpPr>
        <p:spPr>
          <a:xfrm>
            <a:off x="11010900" y="6448425"/>
            <a:ext cx="50482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10</a:t>
            </a:r>
            <a:endParaRPr/>
          </a:p>
        </p:txBody>
      </p:sp>
      <p:sp>
        <p:nvSpPr>
          <p:cNvPr id="233" name="Google Shape;233;p22"/>
          <p:cNvSpPr txBox="1"/>
          <p:nvPr/>
        </p:nvSpPr>
        <p:spPr>
          <a:xfrm>
            <a:off x="676275" y="2712541"/>
            <a:ext cx="10839450" cy="19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1" u="none" strike="noStrike" cap="none">
                <a:solidFill>
                  <a:srgbClr val="64748B"/>
                </a:solidFill>
                <a:latin typeface="Inter"/>
                <a:ea typeface="Inter"/>
                <a:cs typeface="Inter"/>
                <a:sym typeface="Inter"/>
              </a:rPr>
              <a:t>Burada || sembolü iki verinin uç uca eklenmesini (concatenation) ifade eder.</a:t>
            </a:r>
            <a:endParaRPr/>
          </a:p>
        </p:txBody>
      </p:sp>
      <p:sp>
        <p:nvSpPr>
          <p:cNvPr id="234" name="Google Shape;234;p22"/>
          <p:cNvSpPr txBox="1"/>
          <p:nvPr/>
        </p:nvSpPr>
        <p:spPr>
          <a:xfrm>
            <a:off x="942975" y="3350716"/>
            <a:ext cx="499062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Tasarım Mantığı:</a:t>
            </a:r>
            <a:endParaRPr/>
          </a:p>
        </p:txBody>
      </p:sp>
      <p:sp>
        <p:nvSpPr>
          <p:cNvPr id="235" name="Google Shape;235;p22"/>
          <p:cNvSpPr txBox="1"/>
          <p:nvPr/>
        </p:nvSpPr>
        <p:spPr>
          <a:xfrm>
            <a:off x="942975" y="3674566"/>
            <a:ext cx="4752975"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Saldırgan anahtarı bilmediği için hash fonksiyonunun başlangıç girdisini oluşturamaz ve dolayısıyla geçerli bir etiket kodu tahmin edemez diye düşünülmüştür.</a:t>
            </a:r>
            <a:endParaRPr/>
          </a:p>
        </p:txBody>
      </p:sp>
      <p:sp>
        <p:nvSpPr>
          <p:cNvPr id="236" name="Google Shape;236;p22"/>
          <p:cNvSpPr txBox="1"/>
          <p:nvPr/>
        </p:nvSpPr>
        <p:spPr>
          <a:xfrm>
            <a:off x="6553200" y="3350716"/>
            <a:ext cx="499062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E11D48"/>
                </a:solidFill>
                <a:latin typeface="Inter"/>
                <a:ea typeface="Inter"/>
                <a:cs typeface="Inter"/>
                <a:sym typeface="Inter"/>
              </a:rPr>
              <a:t>Yapısal Güvenlik Kusuru:</a:t>
            </a:r>
            <a:endParaRPr/>
          </a:p>
        </p:txBody>
      </p:sp>
      <p:sp>
        <p:nvSpPr>
          <p:cNvPr id="237" name="Google Shape;237;p22"/>
          <p:cNvSpPr txBox="1"/>
          <p:nvPr/>
        </p:nvSpPr>
        <p:spPr>
          <a:xfrm>
            <a:off x="6553200" y="3674566"/>
            <a:ext cx="4752975"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Merkle-Dåmgard mimarisine dayanan klasik hash fonksiyonlarında (MD5, SHA-1, SHA-256) bu yaklaşım tamamen korumasızdır ve pratik olarak çökertilebilir.</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1"/>
        <p:cNvGrpSpPr/>
        <p:nvPr/>
      </p:nvGrpSpPr>
      <p:grpSpPr>
        <a:xfrm>
          <a:off x="0" y="0"/>
          <a:ext cx="0" cy="0"/>
          <a:chOff x="0" y="0"/>
          <a:chExt cx="0" cy="0"/>
        </a:xfrm>
      </p:grpSpPr>
      <p:pic>
        <p:nvPicPr>
          <p:cNvPr id="242" name="Google Shape;242;p23"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243" name="Google Shape;243;p23" descr="image.png"/>
          <p:cNvPicPr preferRelativeResize="0"/>
          <p:nvPr/>
        </p:nvPicPr>
        <p:blipFill rotWithShape="1">
          <a:blip r:embed="rId4">
            <a:alphaModFix/>
          </a:blip>
          <a:srcRect/>
          <a:stretch/>
        </p:blipFill>
        <p:spPr>
          <a:xfrm>
            <a:off x="676275" y="2083891"/>
            <a:ext cx="10839450" cy="1611362"/>
          </a:xfrm>
          <a:prstGeom prst="rect">
            <a:avLst/>
          </a:prstGeom>
          <a:noFill/>
          <a:ln>
            <a:noFill/>
          </a:ln>
        </p:spPr>
      </p:pic>
      <p:sp>
        <p:nvSpPr>
          <p:cNvPr id="244" name="Google Shape;244;p23"/>
          <p:cNvSpPr txBox="1"/>
          <p:nvPr/>
        </p:nvSpPr>
        <p:spPr>
          <a:xfrm>
            <a:off x="1133475" y="485775"/>
            <a:ext cx="10382250"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Uzunluk Uzatma Saldırısı (Length Extension) - Kısım 1</a:t>
            </a:r>
            <a:endParaRPr/>
          </a:p>
        </p:txBody>
      </p:sp>
      <p:sp>
        <p:nvSpPr>
          <p:cNvPr id="245" name="Google Shape;245;p23"/>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46" name="Google Shape;246;p23" descr="image.png"/>
          <p:cNvPicPr preferRelativeResize="0"/>
          <p:nvPr/>
        </p:nvPicPr>
        <p:blipFill rotWithShape="1">
          <a:blip r:embed="rId5">
            <a:alphaModFix/>
          </a:blip>
          <a:srcRect/>
          <a:stretch/>
        </p:blipFill>
        <p:spPr>
          <a:xfrm>
            <a:off x="676275" y="523875"/>
            <a:ext cx="314325" cy="361950"/>
          </a:xfrm>
          <a:prstGeom prst="rect">
            <a:avLst/>
          </a:prstGeom>
          <a:noFill/>
          <a:ln>
            <a:noFill/>
          </a:ln>
        </p:spPr>
      </p:pic>
      <p:sp>
        <p:nvSpPr>
          <p:cNvPr id="247" name="Google Shape;247;p23"/>
          <p:cNvSpPr txBox="1"/>
          <p:nvPr/>
        </p:nvSpPr>
        <p:spPr>
          <a:xfrm>
            <a:off x="676275" y="1314450"/>
            <a:ext cx="10839600" cy="57000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Gizli Önek yöntemiyle oluşturulan sistemler, </a:t>
            </a:r>
            <a:r>
              <a:rPr lang="en-US" sz="1425" b="1" i="0" u="none" strike="noStrike" cap="none">
                <a:solidFill>
                  <a:srgbClr val="475569"/>
                </a:solidFill>
                <a:latin typeface="Inter"/>
                <a:ea typeface="Inter"/>
                <a:cs typeface="Inter"/>
                <a:sym typeface="Inter"/>
              </a:rPr>
              <a:t>Uzunluk Uzatma Saldırısı</a:t>
            </a:r>
            <a:r>
              <a:rPr lang="en-US" sz="1425" b="0" i="0" u="none" strike="noStrike" cap="none">
                <a:solidFill>
                  <a:srgbClr val="475569"/>
                </a:solidFill>
                <a:latin typeface="Inter"/>
                <a:ea typeface="Inter"/>
                <a:cs typeface="Inter"/>
                <a:sym typeface="Inter"/>
              </a:rPr>
              <a:t> karşısında savunmasız kalır. Bu atakta saldırgan, gizli anahtarı bilmesine gerek kalmaksızın yeni sahte paketler üretebilir.</a:t>
            </a:r>
            <a:endParaRPr/>
          </a:p>
        </p:txBody>
      </p:sp>
      <p:sp>
        <p:nvSpPr>
          <p:cNvPr id="248" name="Google Shape;248;p23"/>
          <p:cNvSpPr txBox="1"/>
          <p:nvPr/>
        </p:nvSpPr>
        <p:spPr>
          <a:xfrm>
            <a:off x="676275" y="3885753"/>
            <a:ext cx="1083945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Saldırgan, yakaladığı etiket değerini hash fonksiyonunun yeni başlangıç durumu olarak sisteme yükleyebilir. Böylece fonksiyonu sıfırdan başlatmak yerine, Alice'in bıraktığı yerden devam ettirerek çalıştırır. Bu durum, araya anahtar parametresi girmeden mesaja yeni veri eklenmesinin önünü açar.</a:t>
            </a:r>
            <a:endParaRPr/>
          </a:p>
        </p:txBody>
      </p:sp>
      <p:sp>
        <p:nvSpPr>
          <p:cNvPr id="249" name="Google Shape;249;p23"/>
          <p:cNvSpPr txBox="1"/>
          <p:nvPr/>
        </p:nvSpPr>
        <p:spPr>
          <a:xfrm>
            <a:off x="676275" y="6448425"/>
            <a:ext cx="26247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250" name="Google Shape;250;p23"/>
          <p:cNvSpPr txBox="1"/>
          <p:nvPr/>
        </p:nvSpPr>
        <p:spPr>
          <a:xfrm>
            <a:off x="11039475" y="6448425"/>
            <a:ext cx="47625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11</a:t>
            </a:r>
            <a:endParaRPr/>
          </a:p>
        </p:txBody>
      </p:sp>
      <p:sp>
        <p:nvSpPr>
          <p:cNvPr id="251" name="Google Shape;251;p23"/>
          <p:cNvSpPr txBox="1"/>
          <p:nvPr/>
        </p:nvSpPr>
        <p:spPr>
          <a:xfrm>
            <a:off x="942975" y="2293441"/>
            <a:ext cx="1088136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Saldırının Matematiksel Dayanağı:</a:t>
            </a:r>
            <a:endParaRPr/>
          </a:p>
        </p:txBody>
      </p:sp>
      <p:sp>
        <p:nvSpPr>
          <p:cNvPr id="252" name="Google Shape;252;p23"/>
          <p:cNvSpPr txBox="1"/>
          <p:nvPr/>
        </p:nvSpPr>
        <p:spPr>
          <a:xfrm>
            <a:off x="942975" y="2617291"/>
            <a:ext cx="1036320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Merkle-Dåmgard tabanlı hash fonksiyonları, verileri sabit boyutlu bloklar halinde ardışık olarak işler. Her bloğun çıktısı, bir sonraki bloğun girdisi olan iç durumu (internal state) belirler. Alice'in gönderdiği etiketin kendisi aslında hash fonksiyonunun ulaştığı en son iç durum değeridir.</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6"/>
        <p:cNvGrpSpPr/>
        <p:nvPr/>
      </p:nvGrpSpPr>
      <p:grpSpPr>
        <a:xfrm>
          <a:off x="0" y="0"/>
          <a:ext cx="0" cy="0"/>
          <a:chOff x="0" y="0"/>
          <a:chExt cx="0" cy="0"/>
        </a:xfrm>
      </p:grpSpPr>
      <p:pic>
        <p:nvPicPr>
          <p:cNvPr id="257" name="Google Shape;257;p24"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258" name="Google Shape;258;p24" descr="image.png"/>
          <p:cNvPicPr preferRelativeResize="0"/>
          <p:nvPr/>
        </p:nvPicPr>
        <p:blipFill rotWithShape="1">
          <a:blip r:embed="rId4">
            <a:alphaModFix/>
          </a:blip>
          <a:srcRect/>
          <a:stretch/>
        </p:blipFill>
        <p:spPr>
          <a:xfrm>
            <a:off x="676275" y="4987081"/>
            <a:ext cx="10839450" cy="990600"/>
          </a:xfrm>
          <a:prstGeom prst="rect">
            <a:avLst/>
          </a:prstGeom>
          <a:noFill/>
          <a:ln>
            <a:noFill/>
          </a:ln>
        </p:spPr>
      </p:pic>
      <p:pic>
        <p:nvPicPr>
          <p:cNvPr id="259" name="Google Shape;259;p24" descr="image.png"/>
          <p:cNvPicPr preferRelativeResize="0"/>
          <p:nvPr/>
        </p:nvPicPr>
        <p:blipFill rotWithShape="1">
          <a:blip r:embed="rId5">
            <a:alphaModFix/>
          </a:blip>
          <a:srcRect/>
          <a:stretch/>
        </p:blipFill>
        <p:spPr>
          <a:xfrm>
            <a:off x="676275" y="1794420"/>
            <a:ext cx="5229225" cy="3002160"/>
          </a:xfrm>
          <a:prstGeom prst="rect">
            <a:avLst/>
          </a:prstGeom>
          <a:noFill/>
          <a:ln>
            <a:noFill/>
          </a:ln>
        </p:spPr>
      </p:pic>
      <p:pic>
        <p:nvPicPr>
          <p:cNvPr id="260" name="Google Shape;260;p24" descr="image.png"/>
          <p:cNvPicPr preferRelativeResize="0"/>
          <p:nvPr/>
        </p:nvPicPr>
        <p:blipFill rotWithShape="1">
          <a:blip r:embed="rId6">
            <a:alphaModFix/>
          </a:blip>
          <a:srcRect/>
          <a:stretch/>
        </p:blipFill>
        <p:spPr>
          <a:xfrm>
            <a:off x="6286500" y="1794420"/>
            <a:ext cx="5229225" cy="3002160"/>
          </a:xfrm>
          <a:prstGeom prst="rect">
            <a:avLst/>
          </a:prstGeom>
          <a:noFill/>
          <a:ln>
            <a:noFill/>
          </a:ln>
        </p:spPr>
      </p:pic>
      <p:sp>
        <p:nvSpPr>
          <p:cNvPr id="261" name="Google Shape;261;p24"/>
          <p:cNvSpPr txBox="1"/>
          <p:nvPr/>
        </p:nvSpPr>
        <p:spPr>
          <a:xfrm>
            <a:off x="1228725" y="485775"/>
            <a:ext cx="10287000"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Uzunluk Uzatma Saldırısı (Length Extension) - Kısım 2</a:t>
            </a:r>
            <a:endParaRPr/>
          </a:p>
        </p:txBody>
      </p:sp>
      <p:sp>
        <p:nvSpPr>
          <p:cNvPr id="262" name="Google Shape;262;p24"/>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63" name="Google Shape;263;p24" descr="image.png"/>
          <p:cNvPicPr preferRelativeResize="0"/>
          <p:nvPr/>
        </p:nvPicPr>
        <p:blipFill rotWithShape="1">
          <a:blip r:embed="rId7">
            <a:alphaModFix/>
          </a:blip>
          <a:srcRect/>
          <a:stretch/>
        </p:blipFill>
        <p:spPr>
          <a:xfrm>
            <a:off x="676275" y="523875"/>
            <a:ext cx="409575" cy="361950"/>
          </a:xfrm>
          <a:prstGeom prst="rect">
            <a:avLst/>
          </a:prstGeom>
          <a:noFill/>
          <a:ln>
            <a:noFill/>
          </a:ln>
        </p:spPr>
      </p:pic>
      <p:sp>
        <p:nvSpPr>
          <p:cNvPr id="264" name="Google Shape;264;p24"/>
          <p:cNvSpPr txBox="1"/>
          <p:nvPr/>
        </p:nvSpPr>
        <p:spPr>
          <a:xfrm>
            <a:off x="676275" y="1314450"/>
            <a:ext cx="1083945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Saldırının pratikte nasıl hayat bulduğunu gösteren operasyonel adımlar ve senaryo analizi:</a:t>
            </a:r>
            <a:endParaRPr/>
          </a:p>
        </p:txBody>
      </p:sp>
      <p:sp>
        <p:nvSpPr>
          <p:cNvPr id="265" name="Google Shape;265;p24"/>
          <p:cNvSpPr txBox="1"/>
          <p:nvPr/>
        </p:nvSpPr>
        <p:spPr>
          <a:xfrm>
            <a:off x="676275" y="6448425"/>
            <a:ext cx="26751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266" name="Google Shape;266;p24"/>
          <p:cNvSpPr txBox="1"/>
          <p:nvPr/>
        </p:nvSpPr>
        <p:spPr>
          <a:xfrm>
            <a:off x="11010900" y="6448425"/>
            <a:ext cx="50482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12</a:t>
            </a:r>
            <a:endParaRPr/>
          </a:p>
        </p:txBody>
      </p:sp>
      <p:sp>
        <p:nvSpPr>
          <p:cNvPr id="267" name="Google Shape;267;p24"/>
          <p:cNvSpPr txBox="1"/>
          <p:nvPr/>
        </p:nvSpPr>
        <p:spPr>
          <a:xfrm>
            <a:off x="866775" y="5177581"/>
            <a:ext cx="10458450" cy="609600"/>
          </a:xfrm>
          <a:prstGeom prst="rect">
            <a:avLst/>
          </a:prstGeom>
          <a:noFill/>
          <a:ln>
            <a:noFill/>
          </a:ln>
        </p:spPr>
        <p:txBody>
          <a:bodyPr spcFirstLastPara="1" wrap="square" lIns="28575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B91C1C"/>
                </a:solidFill>
                <a:latin typeface="Inter SemiBold"/>
                <a:ea typeface="Inter SemiBold"/>
                <a:cs typeface="Inter SemiBold"/>
                <a:sym typeface="Inter SemiBold"/>
              </a:rPr>
              <a:t>Kritik Analiz: Gizli önek yapısında saldırgan, anahtarı öğrenmeden meşru bir paket imzalama yetkisi kazanmış olur.</a:t>
            </a:r>
            <a:endParaRPr/>
          </a:p>
        </p:txBody>
      </p:sp>
      <p:sp>
        <p:nvSpPr>
          <p:cNvPr id="268" name="Google Shape;268;p24"/>
          <p:cNvSpPr txBox="1"/>
          <p:nvPr/>
        </p:nvSpPr>
        <p:spPr>
          <a:xfrm>
            <a:off x="942975" y="2003970"/>
            <a:ext cx="499062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Saldırganın İcra Adımları:</a:t>
            </a:r>
            <a:endParaRPr/>
          </a:p>
        </p:txBody>
      </p:sp>
      <p:sp>
        <p:nvSpPr>
          <p:cNvPr id="269" name="Google Shape;269;p24"/>
          <p:cNvSpPr txBox="1"/>
          <p:nvPr/>
        </p:nvSpPr>
        <p:spPr>
          <a:xfrm>
            <a:off x="6553200" y="2003970"/>
            <a:ext cx="499062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E11D48"/>
                </a:solidFill>
                <a:latin typeface="Inter"/>
                <a:ea typeface="Inter"/>
                <a:cs typeface="Inter"/>
                <a:sym typeface="Inter"/>
              </a:rPr>
              <a:t>Sistem Üzerindeki Etkisi:</a:t>
            </a:r>
            <a:endParaRPr/>
          </a:p>
        </p:txBody>
      </p:sp>
      <p:sp>
        <p:nvSpPr>
          <p:cNvPr id="270" name="Google Shape;270;p24"/>
          <p:cNvSpPr txBox="1"/>
          <p:nvPr/>
        </p:nvSpPr>
        <p:spPr>
          <a:xfrm>
            <a:off x="6553200" y="2327820"/>
            <a:ext cx="4752975" cy="630733"/>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Saldırgan (xyeni, tyeni) çiftini alıcıya ilettiğinde, alıcı taraf veriyi sıfırdan hesaplar: h(k || xyeni).</a:t>
            </a:r>
            <a:endParaRPr/>
          </a:p>
        </p:txBody>
      </p:sp>
      <p:sp>
        <p:nvSpPr>
          <p:cNvPr id="271" name="Google Shape;271;p24"/>
          <p:cNvSpPr txBox="1"/>
          <p:nvPr/>
        </p:nvSpPr>
        <p:spPr>
          <a:xfrm>
            <a:off x="6553200" y="3149054"/>
            <a:ext cx="4752975"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Matematiksel döngü gereği alıcının bulduğu değer, saldırganın hazırladığı sahte etiketle tam olarak uyuşur ve sistem sahte yönergeyi onaylar.</a:t>
            </a:r>
            <a:endParaRPr/>
          </a:p>
        </p:txBody>
      </p:sp>
      <p:pic>
        <p:nvPicPr>
          <p:cNvPr id="272" name="Google Shape;272;p24" descr="image.png"/>
          <p:cNvPicPr preferRelativeResize="0"/>
          <p:nvPr/>
        </p:nvPicPr>
        <p:blipFill rotWithShape="1">
          <a:blip r:embed="rId8">
            <a:alphaModFix/>
          </a:blip>
          <a:srcRect/>
          <a:stretch/>
        </p:blipFill>
        <p:spPr>
          <a:xfrm>
            <a:off x="1000125" y="5234731"/>
            <a:ext cx="190500" cy="190500"/>
          </a:xfrm>
          <a:prstGeom prst="rect">
            <a:avLst/>
          </a:prstGeom>
          <a:noFill/>
          <a:ln>
            <a:noFill/>
          </a:ln>
        </p:spPr>
      </p:pic>
      <p:sp>
        <p:nvSpPr>
          <p:cNvPr id="273" name="Google Shape;273;p24"/>
          <p:cNvSpPr txBox="1"/>
          <p:nvPr/>
        </p:nvSpPr>
        <p:spPr>
          <a:xfrm>
            <a:off x="1228725" y="2327820"/>
            <a:ext cx="4467225" cy="25717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Ağdan geçen orijinal mesajı (x) ve etiketi (t) yakalar.</a:t>
            </a:r>
            <a:endParaRPr/>
          </a:p>
        </p:txBody>
      </p:sp>
      <p:sp>
        <p:nvSpPr>
          <p:cNvPr id="274" name="Google Shape;274;p24"/>
          <p:cNvSpPr txBox="1"/>
          <p:nvPr/>
        </p:nvSpPr>
        <p:spPr>
          <a:xfrm>
            <a:off x="1228725" y="2680245"/>
            <a:ext cx="446722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Orijinal verinin sonuna sistemin dolgu (padding) bloklarını ekler.</a:t>
            </a:r>
            <a:endParaRPr/>
          </a:p>
        </p:txBody>
      </p:sp>
      <p:sp>
        <p:nvSpPr>
          <p:cNvPr id="275" name="Google Shape;275;p24"/>
          <p:cNvSpPr txBox="1"/>
          <p:nvPr/>
        </p:nvSpPr>
        <p:spPr>
          <a:xfrm>
            <a:off x="1228725" y="3289845"/>
            <a:ext cx="4467225" cy="55334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Ardından kendi enjekte etmek istediği zararlı eki ekler: xyeni = x || Dolgu || Zararlı_Ek</a:t>
            </a:r>
            <a:endParaRPr/>
          </a:p>
        </p:txBody>
      </p:sp>
      <p:sp>
        <p:nvSpPr>
          <p:cNvPr id="276" name="Google Shape;276;p24"/>
          <p:cNvSpPr txBox="1"/>
          <p:nvPr/>
        </p:nvSpPr>
        <p:spPr>
          <a:xfrm>
            <a:off x="1228725" y="3938438"/>
            <a:ext cx="4467225" cy="553342"/>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Yakaladığı t değerini iç durum kabul ederek fonksiyonu çalıştırır ve yeni sahte etiketi türetir: tyeni</a:t>
            </a:r>
            <a:endParaRPr/>
          </a:p>
        </p:txBody>
      </p:sp>
      <p:pic>
        <p:nvPicPr>
          <p:cNvPr id="277" name="Google Shape;277;p24" descr="image.png"/>
          <p:cNvPicPr preferRelativeResize="0"/>
          <p:nvPr/>
        </p:nvPicPr>
        <p:blipFill rotWithShape="1">
          <a:blip r:embed="rId9">
            <a:alphaModFix/>
          </a:blip>
          <a:srcRect/>
          <a:stretch/>
        </p:blipFill>
        <p:spPr>
          <a:xfrm>
            <a:off x="942975" y="2327820"/>
            <a:ext cx="171450" cy="180975"/>
          </a:xfrm>
          <a:prstGeom prst="rect">
            <a:avLst/>
          </a:prstGeom>
          <a:noFill/>
          <a:ln>
            <a:noFill/>
          </a:ln>
        </p:spPr>
      </p:pic>
      <p:pic>
        <p:nvPicPr>
          <p:cNvPr id="278" name="Google Shape;278;p24" descr="image.png"/>
          <p:cNvPicPr preferRelativeResize="0"/>
          <p:nvPr/>
        </p:nvPicPr>
        <p:blipFill rotWithShape="1">
          <a:blip r:embed="rId9">
            <a:alphaModFix/>
          </a:blip>
          <a:srcRect/>
          <a:stretch/>
        </p:blipFill>
        <p:spPr>
          <a:xfrm>
            <a:off x="942975" y="2680245"/>
            <a:ext cx="171450" cy="180975"/>
          </a:xfrm>
          <a:prstGeom prst="rect">
            <a:avLst/>
          </a:prstGeom>
          <a:noFill/>
          <a:ln>
            <a:noFill/>
          </a:ln>
        </p:spPr>
      </p:pic>
      <p:pic>
        <p:nvPicPr>
          <p:cNvPr id="279" name="Google Shape;279;p24" descr="image.png"/>
          <p:cNvPicPr preferRelativeResize="0"/>
          <p:nvPr/>
        </p:nvPicPr>
        <p:blipFill rotWithShape="1">
          <a:blip r:embed="rId9">
            <a:alphaModFix/>
          </a:blip>
          <a:srcRect/>
          <a:stretch/>
        </p:blipFill>
        <p:spPr>
          <a:xfrm>
            <a:off x="942975" y="3289845"/>
            <a:ext cx="171450" cy="180975"/>
          </a:xfrm>
          <a:prstGeom prst="rect">
            <a:avLst/>
          </a:prstGeom>
          <a:noFill/>
          <a:ln>
            <a:noFill/>
          </a:ln>
        </p:spPr>
      </p:pic>
      <p:pic>
        <p:nvPicPr>
          <p:cNvPr id="280" name="Google Shape;280;p24" descr="image.png"/>
          <p:cNvPicPr preferRelativeResize="0"/>
          <p:nvPr/>
        </p:nvPicPr>
        <p:blipFill rotWithShape="1">
          <a:blip r:embed="rId9">
            <a:alphaModFix/>
          </a:blip>
          <a:srcRect/>
          <a:stretch/>
        </p:blipFill>
        <p:spPr>
          <a:xfrm>
            <a:off x="942975" y="3938438"/>
            <a:ext cx="171450" cy="1809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4"/>
        <p:cNvGrpSpPr/>
        <p:nvPr/>
      </p:nvGrpSpPr>
      <p:grpSpPr>
        <a:xfrm>
          <a:off x="0" y="0"/>
          <a:ext cx="0" cy="0"/>
          <a:chOff x="0" y="0"/>
          <a:chExt cx="0" cy="0"/>
        </a:xfrm>
      </p:grpSpPr>
      <p:pic>
        <p:nvPicPr>
          <p:cNvPr id="285" name="Google Shape;285;p25"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286" name="Google Shape;286;p25" descr="image.png"/>
          <p:cNvPicPr preferRelativeResize="0"/>
          <p:nvPr/>
        </p:nvPicPr>
        <p:blipFill rotWithShape="1">
          <a:blip r:embed="rId4">
            <a:alphaModFix/>
          </a:blip>
          <a:srcRect/>
          <a:stretch/>
        </p:blipFill>
        <p:spPr>
          <a:xfrm>
            <a:off x="676275" y="1746795"/>
            <a:ext cx="10839450" cy="581025"/>
          </a:xfrm>
          <a:prstGeom prst="rect">
            <a:avLst/>
          </a:prstGeom>
          <a:noFill/>
          <a:ln>
            <a:noFill/>
          </a:ln>
        </p:spPr>
      </p:pic>
      <p:pic>
        <p:nvPicPr>
          <p:cNvPr id="287" name="Google Shape;287;p25" descr="image.png"/>
          <p:cNvPicPr preferRelativeResize="0"/>
          <p:nvPr/>
        </p:nvPicPr>
        <p:blipFill rotWithShape="1">
          <a:blip r:embed="rId5">
            <a:alphaModFix/>
          </a:blip>
          <a:srcRect/>
          <a:stretch/>
        </p:blipFill>
        <p:spPr>
          <a:xfrm>
            <a:off x="676275" y="3335387"/>
            <a:ext cx="5229225" cy="2624583"/>
          </a:xfrm>
          <a:prstGeom prst="rect">
            <a:avLst/>
          </a:prstGeom>
          <a:noFill/>
          <a:ln>
            <a:noFill/>
          </a:ln>
        </p:spPr>
      </p:pic>
      <p:pic>
        <p:nvPicPr>
          <p:cNvPr id="288" name="Google Shape;288;p25" descr="image.png"/>
          <p:cNvPicPr preferRelativeResize="0"/>
          <p:nvPr/>
        </p:nvPicPr>
        <p:blipFill rotWithShape="1">
          <a:blip r:embed="rId6">
            <a:alphaModFix/>
          </a:blip>
          <a:srcRect/>
          <a:stretch/>
        </p:blipFill>
        <p:spPr>
          <a:xfrm>
            <a:off x="6286500" y="3335387"/>
            <a:ext cx="5229225" cy="2624583"/>
          </a:xfrm>
          <a:prstGeom prst="rect">
            <a:avLst/>
          </a:prstGeom>
          <a:noFill/>
          <a:ln>
            <a:noFill/>
          </a:ln>
        </p:spPr>
      </p:pic>
      <p:sp>
        <p:nvSpPr>
          <p:cNvPr id="289" name="Google Shape;289;p25"/>
          <p:cNvSpPr txBox="1"/>
          <p:nvPr/>
        </p:nvSpPr>
        <p:spPr>
          <a:xfrm>
            <a:off x="1181100" y="485775"/>
            <a:ext cx="10334625"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Gizli Sonek (Secret Suffix) Yaklaşımı ve Çarpışma Riski</a:t>
            </a:r>
            <a:endParaRPr/>
          </a:p>
        </p:txBody>
      </p:sp>
      <p:sp>
        <p:nvSpPr>
          <p:cNvPr id="290" name="Google Shape;290;p25"/>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91" name="Google Shape;291;p25" descr="image.png"/>
          <p:cNvPicPr preferRelativeResize="0"/>
          <p:nvPr/>
        </p:nvPicPr>
        <p:blipFill rotWithShape="1">
          <a:blip r:embed="rId7">
            <a:alphaModFix/>
          </a:blip>
          <a:srcRect/>
          <a:stretch/>
        </p:blipFill>
        <p:spPr>
          <a:xfrm>
            <a:off x="676275" y="523875"/>
            <a:ext cx="361950" cy="361950"/>
          </a:xfrm>
          <a:prstGeom prst="rect">
            <a:avLst/>
          </a:prstGeom>
          <a:noFill/>
          <a:ln>
            <a:noFill/>
          </a:ln>
        </p:spPr>
      </p:pic>
      <p:sp>
        <p:nvSpPr>
          <p:cNvPr id="292" name="Google Shape;292;p25"/>
          <p:cNvSpPr txBox="1"/>
          <p:nvPr/>
        </p:nvSpPr>
        <p:spPr>
          <a:xfrm>
            <a:off x="676275" y="1314450"/>
            <a:ext cx="1083945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Önek yöntemindeki açığı kapatmak amacıyla anahtarın mesajın sonuna eklenmesi fikri denenmiştir:</a:t>
            </a:r>
            <a:endParaRPr/>
          </a:p>
        </p:txBody>
      </p:sp>
      <p:sp>
        <p:nvSpPr>
          <p:cNvPr id="293" name="Google Shape;293;p25"/>
          <p:cNvSpPr txBox="1"/>
          <p:nvPr/>
        </p:nvSpPr>
        <p:spPr>
          <a:xfrm>
            <a:off x="676275" y="2613570"/>
            <a:ext cx="10839600" cy="57000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Bu tasarım yapısı itibarıyla Uzunluk Uzatma Saldırılarını engeller çünkü fonksiyonun son bloğuna gizli anahtar dahil edilmiştir, araya ekleme yapılamaz. Ancak bu sefer de fonksiyonun </a:t>
            </a:r>
            <a:r>
              <a:rPr lang="en-US" sz="1425" b="1" i="0" u="none" strike="noStrike" cap="none">
                <a:solidFill>
                  <a:srgbClr val="475569"/>
                </a:solidFill>
                <a:latin typeface="Inter"/>
                <a:ea typeface="Inter"/>
                <a:cs typeface="Inter"/>
                <a:sym typeface="Inter"/>
              </a:rPr>
              <a:t>Çarpışma (Collision)</a:t>
            </a:r>
            <a:r>
              <a:rPr lang="en-US" sz="1425" b="0" i="0" u="none" strike="noStrike" cap="none">
                <a:solidFill>
                  <a:srgbClr val="475569"/>
                </a:solidFill>
                <a:latin typeface="Inter"/>
                <a:ea typeface="Inter"/>
                <a:cs typeface="Inter"/>
                <a:sym typeface="Inter"/>
              </a:rPr>
              <a:t> zayıflıkları devreye girer.</a:t>
            </a:r>
            <a:endParaRPr/>
          </a:p>
        </p:txBody>
      </p:sp>
      <p:sp>
        <p:nvSpPr>
          <p:cNvPr id="294" name="Google Shape;294;p25"/>
          <p:cNvSpPr txBox="1"/>
          <p:nvPr/>
        </p:nvSpPr>
        <p:spPr>
          <a:xfrm>
            <a:off x="676275" y="6448425"/>
            <a:ext cx="27759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295" name="Google Shape;295;p25"/>
          <p:cNvSpPr txBox="1"/>
          <p:nvPr/>
        </p:nvSpPr>
        <p:spPr>
          <a:xfrm>
            <a:off x="11010900" y="6448425"/>
            <a:ext cx="50482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13</a:t>
            </a:r>
            <a:endParaRPr/>
          </a:p>
        </p:txBody>
      </p:sp>
      <p:sp>
        <p:nvSpPr>
          <p:cNvPr id="296" name="Google Shape;296;p25"/>
          <p:cNvSpPr txBox="1"/>
          <p:nvPr/>
        </p:nvSpPr>
        <p:spPr>
          <a:xfrm>
            <a:off x="942975" y="3544937"/>
            <a:ext cx="499062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Çarpışma Temelli Sahtecilik:</a:t>
            </a:r>
            <a:endParaRPr/>
          </a:p>
        </p:txBody>
      </p:sp>
      <p:sp>
        <p:nvSpPr>
          <p:cNvPr id="297" name="Google Shape;297;p25"/>
          <p:cNvSpPr txBox="1"/>
          <p:nvPr/>
        </p:nvSpPr>
        <p:spPr>
          <a:xfrm>
            <a:off x="942975" y="3868787"/>
            <a:ext cx="4752975"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Saldırgan, kullanılan hash fonksiyonunda aynı çıktı değerini veren iki farklı mesaj varyasyonu keşfederse:</a:t>
            </a:r>
            <a:endParaRPr/>
          </a:p>
        </p:txBody>
      </p:sp>
      <p:sp>
        <p:nvSpPr>
          <p:cNvPr id="298" name="Google Shape;298;p25"/>
          <p:cNvSpPr txBox="1"/>
          <p:nvPr/>
        </p:nvSpPr>
        <p:spPr>
          <a:xfrm>
            <a:off x="942975" y="4542978"/>
            <a:ext cx="4752975" cy="24378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200" b="0" i="0" u="none" strike="noStrike" cap="none">
                <a:solidFill>
                  <a:srgbClr val="0D9488"/>
                </a:solidFill>
                <a:latin typeface="Fira Code"/>
                <a:ea typeface="Fira Code"/>
                <a:cs typeface="Fira Code"/>
                <a:sym typeface="Fira Code"/>
              </a:rPr>
              <a:t>h(x) = h(x')</a:t>
            </a:r>
            <a:endParaRPr/>
          </a:p>
        </p:txBody>
      </p:sp>
      <p:sp>
        <p:nvSpPr>
          <p:cNvPr id="299" name="Google Shape;299;p25"/>
          <p:cNvSpPr txBox="1"/>
          <p:nvPr/>
        </p:nvSpPr>
        <p:spPr>
          <a:xfrm>
            <a:off x="942975" y="4882008"/>
            <a:ext cx="4752975"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Bu eşitlik sağlandığı an, verilerin sonuna anahtar eklense dahi hash çıktısı değişmeyecektir: h(x || k) = h(x' || k).</a:t>
            </a:r>
            <a:endParaRPr/>
          </a:p>
        </p:txBody>
      </p:sp>
      <p:sp>
        <p:nvSpPr>
          <p:cNvPr id="300" name="Google Shape;300;p25"/>
          <p:cNvSpPr txBox="1"/>
          <p:nvPr/>
        </p:nvSpPr>
        <p:spPr>
          <a:xfrm>
            <a:off x="6553200" y="3544937"/>
            <a:ext cx="499062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E11D48"/>
                </a:solidFill>
                <a:latin typeface="Inter"/>
                <a:ea typeface="Inter"/>
                <a:cs typeface="Inter"/>
                <a:sym typeface="Inter"/>
              </a:rPr>
              <a:t>İstismar Biçimi:</a:t>
            </a:r>
            <a:endParaRPr/>
          </a:p>
        </p:txBody>
      </p:sp>
      <p:sp>
        <p:nvSpPr>
          <p:cNvPr id="301" name="Google Shape;301;p25"/>
          <p:cNvSpPr txBox="1"/>
          <p:nvPr/>
        </p:nvSpPr>
        <p:spPr>
          <a:xfrm>
            <a:off x="6553200" y="3868787"/>
            <a:ext cx="4752975" cy="115788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Saldırgan meşru tarafa masum görünümlü x mesajını imzalatarak t etiketini alır. Ardından bu t etiketini, aynı hash değerine sahip zararlı x' mesajının yanına koyarak sisteme sunar ve korumayı aşar.</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05"/>
        <p:cNvGrpSpPr/>
        <p:nvPr/>
      </p:nvGrpSpPr>
      <p:grpSpPr>
        <a:xfrm>
          <a:off x="0" y="0"/>
          <a:ext cx="0" cy="0"/>
          <a:chOff x="0" y="0"/>
          <a:chExt cx="0" cy="0"/>
        </a:xfrm>
      </p:grpSpPr>
      <p:sp>
        <p:nvSpPr>
          <p:cNvPr id="306" name="Google Shape;306;p26"/>
          <p:cNvSpPr txBox="1"/>
          <p:nvPr/>
        </p:nvSpPr>
        <p:spPr>
          <a:xfrm>
            <a:off x="5005863" y="2708969"/>
            <a:ext cx="2180272" cy="533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450" b="1" i="0" u="none" strike="noStrike" cap="none">
                <a:solidFill>
                  <a:srgbClr val="FFFFFF"/>
                </a:solidFill>
                <a:latin typeface="Inter"/>
                <a:ea typeface="Inter"/>
                <a:cs typeface="Inter"/>
                <a:sym typeface="Inter"/>
              </a:rPr>
              <a:t>BÖLÜM III</a:t>
            </a:r>
            <a:endParaRPr/>
          </a:p>
        </p:txBody>
      </p:sp>
      <p:sp>
        <p:nvSpPr>
          <p:cNvPr id="307" name="Google Shape;307;p26"/>
          <p:cNvSpPr/>
          <p:nvPr/>
        </p:nvSpPr>
        <p:spPr>
          <a:xfrm>
            <a:off x="5524500" y="3575744"/>
            <a:ext cx="1143000" cy="47625"/>
          </a:xfrm>
          <a:prstGeom prst="roundRect">
            <a:avLst>
              <a:gd name="adj" fmla="val 40000"/>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8" name="Google Shape;308;p26"/>
          <p:cNvSpPr txBox="1"/>
          <p:nvPr/>
        </p:nvSpPr>
        <p:spPr>
          <a:xfrm>
            <a:off x="3214687" y="3813869"/>
            <a:ext cx="5762625" cy="335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a:solidFill>
                  <a:srgbClr val="38BDF8"/>
                </a:solidFill>
                <a:latin typeface="Inter"/>
                <a:ea typeface="Inter"/>
                <a:cs typeface="Inter"/>
                <a:sym typeface="Inter"/>
              </a:rPr>
              <a:t>HMAC: Güvenli Standart ve Çift Katmanlı Matematiksel Yapı</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2"/>
        <p:cNvGrpSpPr/>
        <p:nvPr/>
      </p:nvGrpSpPr>
      <p:grpSpPr>
        <a:xfrm>
          <a:off x="0" y="0"/>
          <a:ext cx="0" cy="0"/>
          <a:chOff x="0" y="0"/>
          <a:chExt cx="0" cy="0"/>
        </a:xfrm>
      </p:grpSpPr>
      <p:pic>
        <p:nvPicPr>
          <p:cNvPr id="313" name="Google Shape;313;p27"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314" name="Google Shape;314;p27" descr="image.png"/>
          <p:cNvPicPr preferRelativeResize="0"/>
          <p:nvPr/>
        </p:nvPicPr>
        <p:blipFill rotWithShape="1">
          <a:blip r:embed="rId4">
            <a:alphaModFix/>
          </a:blip>
          <a:srcRect/>
          <a:stretch/>
        </p:blipFill>
        <p:spPr>
          <a:xfrm>
            <a:off x="676275" y="2083891"/>
            <a:ext cx="10839450" cy="1611362"/>
          </a:xfrm>
          <a:prstGeom prst="rect">
            <a:avLst/>
          </a:prstGeom>
          <a:noFill/>
          <a:ln>
            <a:noFill/>
          </a:ln>
        </p:spPr>
      </p:pic>
      <p:sp>
        <p:nvSpPr>
          <p:cNvPr id="315" name="Google Shape;315;p27"/>
          <p:cNvSpPr txBox="1"/>
          <p:nvPr/>
        </p:nvSpPr>
        <p:spPr>
          <a:xfrm>
            <a:off x="1181100" y="485775"/>
            <a:ext cx="10334625"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Güvenli Çözüm: HMAC (Hash-based MAC) Mimarisi</a:t>
            </a:r>
            <a:endParaRPr/>
          </a:p>
        </p:txBody>
      </p:sp>
      <p:sp>
        <p:nvSpPr>
          <p:cNvPr id="316" name="Google Shape;316;p27"/>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17" name="Google Shape;317;p27" descr="image.png"/>
          <p:cNvPicPr preferRelativeResize="0"/>
          <p:nvPr/>
        </p:nvPicPr>
        <p:blipFill rotWithShape="1">
          <a:blip r:embed="rId5">
            <a:alphaModFix/>
          </a:blip>
          <a:srcRect/>
          <a:stretch/>
        </p:blipFill>
        <p:spPr>
          <a:xfrm>
            <a:off x="676275" y="523875"/>
            <a:ext cx="361950" cy="361950"/>
          </a:xfrm>
          <a:prstGeom prst="rect">
            <a:avLst/>
          </a:prstGeom>
          <a:noFill/>
          <a:ln>
            <a:noFill/>
          </a:ln>
        </p:spPr>
      </p:pic>
      <p:sp>
        <p:nvSpPr>
          <p:cNvPr id="318" name="Google Shape;318;p27"/>
          <p:cNvSpPr txBox="1"/>
          <p:nvPr/>
        </p:nvSpPr>
        <p:spPr>
          <a:xfrm>
            <a:off x="676275" y="1314450"/>
            <a:ext cx="108394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Önek ve sonek yapılarının barındırdığı tüm zayıflıkları kalıcı olarak çözmek amacıyla geliştirilen ve FIPS 198 standartlarına bağlanan yapı </a:t>
            </a:r>
            <a:r>
              <a:rPr lang="en-US" sz="1425" b="1" i="0" u="none" strike="noStrike" cap="none">
                <a:solidFill>
                  <a:srgbClr val="475569"/>
                </a:solidFill>
                <a:latin typeface="Inter"/>
                <a:ea typeface="Inter"/>
                <a:cs typeface="Inter"/>
                <a:sym typeface="Inter"/>
              </a:rPr>
              <a:t>HMAC</a:t>
            </a:r>
            <a:r>
              <a:rPr lang="en-US" sz="1425" b="0" i="0" u="none" strike="noStrike" cap="none">
                <a:solidFill>
                  <a:srgbClr val="475569"/>
                </a:solidFill>
                <a:latin typeface="Inter"/>
                <a:ea typeface="Inter"/>
                <a:cs typeface="Inter"/>
                <a:sym typeface="Inter"/>
              </a:rPr>
              <a:t> algoritmasıdır. Bugün TLS, IPsec ve SSH gibi küresel ağ protokollerinin güvenlik omurgasını oluşturur.</a:t>
            </a:r>
            <a:endParaRPr/>
          </a:p>
        </p:txBody>
      </p:sp>
      <p:sp>
        <p:nvSpPr>
          <p:cNvPr id="319" name="Google Shape;319;p27"/>
          <p:cNvSpPr txBox="1"/>
          <p:nvPr/>
        </p:nvSpPr>
        <p:spPr>
          <a:xfrm>
            <a:off x="676275" y="3885753"/>
            <a:ext cx="1083945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475569"/>
                </a:solidFill>
                <a:latin typeface="Inter"/>
                <a:ea typeface="Inter"/>
                <a:cs typeface="Inter"/>
                <a:sym typeface="Inter"/>
              </a:rPr>
              <a:t>Direnç Faktörü:</a:t>
            </a:r>
            <a:r>
              <a:rPr lang="en-US" sz="1425" b="0" i="0" u="none" strike="noStrike" cap="none">
                <a:solidFill>
                  <a:srgbClr val="475569"/>
                </a:solidFill>
                <a:latin typeface="Inter"/>
                <a:ea typeface="Inter"/>
                <a:cs typeface="Inter"/>
                <a:sym typeface="Inter"/>
              </a:rPr>
              <a:t> HMAC inşası o kadar güçlü bir matematiksel modele sahiptir ki, altta çalışan hash fonksiyonunda (örneğin SHA-1) teorik çarpışma açıkları bulunsa dahi, katmanlar arasındaki koruma sayesinde bütünlük doğrulaması güvenle çalışmaya devam eder.</a:t>
            </a:r>
            <a:endParaRPr/>
          </a:p>
        </p:txBody>
      </p:sp>
      <p:sp>
        <p:nvSpPr>
          <p:cNvPr id="320" name="Google Shape;320;p27"/>
          <p:cNvSpPr txBox="1"/>
          <p:nvPr/>
        </p:nvSpPr>
        <p:spPr>
          <a:xfrm>
            <a:off x="676275" y="6448425"/>
            <a:ext cx="26625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321" name="Google Shape;321;p27"/>
          <p:cNvSpPr txBox="1"/>
          <p:nvPr/>
        </p:nvSpPr>
        <p:spPr>
          <a:xfrm>
            <a:off x="11020425" y="6448425"/>
            <a:ext cx="4953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15</a:t>
            </a:r>
            <a:endParaRPr/>
          </a:p>
        </p:txBody>
      </p:sp>
      <p:sp>
        <p:nvSpPr>
          <p:cNvPr id="322" name="Google Shape;322;p27"/>
          <p:cNvSpPr txBox="1"/>
          <p:nvPr/>
        </p:nvSpPr>
        <p:spPr>
          <a:xfrm>
            <a:off x="942975" y="2293441"/>
            <a:ext cx="1088136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Temel Tasarım Stratejisi:</a:t>
            </a:r>
            <a:endParaRPr/>
          </a:p>
        </p:txBody>
      </p:sp>
      <p:sp>
        <p:nvSpPr>
          <p:cNvPr id="323" name="Google Shape;323;p27"/>
          <p:cNvSpPr txBox="1"/>
          <p:nvPr/>
        </p:nvSpPr>
        <p:spPr>
          <a:xfrm>
            <a:off x="942975" y="2617291"/>
            <a:ext cx="1036320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Mevcut tek yönlü hash fonksiyonlarını mimari kodlarında modifikasyon yapmadan birer kara kutu (black box) gibi entegre etmek. İç içe geçirilmiş iki katmanlı şifreleme döngüsü kullanarak zincirleme iç durum bilgilerini dış dünyadan tamamen izole etmek.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7"/>
        <p:cNvGrpSpPr/>
        <p:nvPr/>
      </p:nvGrpSpPr>
      <p:grpSpPr>
        <a:xfrm>
          <a:off x="0" y="0"/>
          <a:ext cx="0" cy="0"/>
          <a:chOff x="0" y="0"/>
          <a:chExt cx="0" cy="0"/>
        </a:xfrm>
      </p:grpSpPr>
      <p:pic>
        <p:nvPicPr>
          <p:cNvPr id="328" name="Google Shape;328;p28"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329" name="Google Shape;329;p28" descr="image.png"/>
          <p:cNvPicPr preferRelativeResize="0"/>
          <p:nvPr/>
        </p:nvPicPr>
        <p:blipFill rotWithShape="1">
          <a:blip r:embed="rId4">
            <a:alphaModFix/>
          </a:blip>
          <a:srcRect/>
          <a:stretch/>
        </p:blipFill>
        <p:spPr>
          <a:xfrm>
            <a:off x="676275" y="2648991"/>
            <a:ext cx="10839450" cy="3028950"/>
          </a:xfrm>
          <a:prstGeom prst="rect">
            <a:avLst/>
          </a:prstGeom>
          <a:noFill/>
          <a:ln>
            <a:noFill/>
          </a:ln>
        </p:spPr>
      </p:pic>
      <p:pic>
        <p:nvPicPr>
          <p:cNvPr id="330" name="Google Shape;330;p28" descr="image.png"/>
          <p:cNvPicPr preferRelativeResize="0"/>
          <p:nvPr/>
        </p:nvPicPr>
        <p:blipFill rotWithShape="1">
          <a:blip r:embed="rId5">
            <a:alphaModFix/>
          </a:blip>
          <a:srcRect/>
          <a:stretch/>
        </p:blipFill>
        <p:spPr>
          <a:xfrm>
            <a:off x="676275" y="1746795"/>
            <a:ext cx="10839450" cy="664071"/>
          </a:xfrm>
          <a:prstGeom prst="rect">
            <a:avLst/>
          </a:prstGeom>
          <a:noFill/>
          <a:ln>
            <a:noFill/>
          </a:ln>
        </p:spPr>
      </p:pic>
      <p:sp>
        <p:nvSpPr>
          <p:cNvPr id="331" name="Google Shape;331;p28"/>
          <p:cNvSpPr txBox="1"/>
          <p:nvPr/>
        </p:nvSpPr>
        <p:spPr>
          <a:xfrm>
            <a:off x="1228725" y="485775"/>
            <a:ext cx="10287000"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HMAC Formülünün Anatomik Çözümlemesi</a:t>
            </a:r>
            <a:endParaRPr/>
          </a:p>
        </p:txBody>
      </p:sp>
      <p:sp>
        <p:nvSpPr>
          <p:cNvPr id="332" name="Google Shape;332;p28"/>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33" name="Google Shape;333;p28" descr="image.png"/>
          <p:cNvPicPr preferRelativeResize="0"/>
          <p:nvPr/>
        </p:nvPicPr>
        <p:blipFill rotWithShape="1">
          <a:blip r:embed="rId6">
            <a:alphaModFix/>
          </a:blip>
          <a:srcRect/>
          <a:stretch/>
        </p:blipFill>
        <p:spPr>
          <a:xfrm>
            <a:off x="676275" y="523875"/>
            <a:ext cx="409575" cy="361950"/>
          </a:xfrm>
          <a:prstGeom prst="rect">
            <a:avLst/>
          </a:prstGeom>
          <a:noFill/>
          <a:ln>
            <a:noFill/>
          </a:ln>
        </p:spPr>
      </p:pic>
      <p:sp>
        <p:nvSpPr>
          <p:cNvPr id="334" name="Google Shape;334;p28"/>
          <p:cNvSpPr txBox="1"/>
          <p:nvPr/>
        </p:nvSpPr>
        <p:spPr>
          <a:xfrm>
            <a:off x="676275" y="1314450"/>
            <a:ext cx="1083945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HMAC yapısının arkasında yatan, veriyi ve anahtarı çift katmanlı doğrulamadan geçiren resmi matematiksel ifadesi:</a:t>
            </a:r>
            <a:endParaRPr/>
          </a:p>
        </p:txBody>
      </p:sp>
      <p:sp>
        <p:nvSpPr>
          <p:cNvPr id="335" name="Google Shape;335;p28"/>
          <p:cNvSpPr txBox="1"/>
          <p:nvPr/>
        </p:nvSpPr>
        <p:spPr>
          <a:xfrm>
            <a:off x="676275" y="6448425"/>
            <a:ext cx="27738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336" name="Google Shape;336;p28"/>
          <p:cNvSpPr txBox="1"/>
          <p:nvPr/>
        </p:nvSpPr>
        <p:spPr>
          <a:xfrm>
            <a:off x="11010900" y="6448425"/>
            <a:ext cx="50482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16</a:t>
            </a:r>
            <a:endParaRPr/>
          </a:p>
        </p:txBody>
      </p:sp>
      <p:sp>
        <p:nvSpPr>
          <p:cNvPr id="337" name="Google Shape;337;p28"/>
          <p:cNvSpPr txBox="1"/>
          <p:nvPr/>
        </p:nvSpPr>
        <p:spPr>
          <a:xfrm>
            <a:off x="942975" y="2858541"/>
            <a:ext cx="1088136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Parametrelerin Fonksiyonel Görevleri:</a:t>
            </a:r>
            <a:endParaRPr/>
          </a:p>
        </p:txBody>
      </p:sp>
      <p:graphicFrame>
        <p:nvGraphicFramePr>
          <p:cNvPr id="338" name="Google Shape;338;p28"/>
          <p:cNvGraphicFramePr/>
          <p:nvPr/>
        </p:nvGraphicFramePr>
        <p:xfrm>
          <a:off x="942975" y="3182391"/>
          <a:ext cx="10363200" cy="2286000"/>
        </p:xfrm>
        <a:graphic>
          <a:graphicData uri="http://schemas.openxmlformats.org/drawingml/2006/table">
            <a:tbl>
              <a:tblPr firstRow="1" bandRow="1">
                <a:noFill/>
                <a:tableStyleId>{88CE70E3-FC57-4D0D-9F4D-AC28F3C8B1B3}</a:tableStyleId>
              </a:tblPr>
              <a:tblGrid>
                <a:gridCol w="2072575">
                  <a:extLst>
                    <a:ext uri="{9D8B030D-6E8A-4147-A177-3AD203B41FA5}">
                      <a16:colId xmlns:a16="http://schemas.microsoft.com/office/drawing/2014/main" val="20000"/>
                    </a:ext>
                  </a:extLst>
                </a:gridCol>
                <a:gridCol w="8290625">
                  <a:extLst>
                    <a:ext uri="{9D8B030D-6E8A-4147-A177-3AD203B41FA5}">
                      <a16:colId xmlns:a16="http://schemas.microsoft.com/office/drawing/2014/main" val="20001"/>
                    </a:ext>
                  </a:extLst>
                </a:gridCol>
              </a:tblGrid>
              <a:tr h="571500">
                <a:tc>
                  <a:txBody>
                    <a:bodyPr/>
                    <a:lstStyle/>
                    <a:p>
                      <a:pPr marL="0" marR="0" lvl="0" indent="0" algn="l" rtl="0">
                        <a:spcBef>
                          <a:spcPts val="0"/>
                        </a:spcBef>
                        <a:spcAft>
                          <a:spcPts val="0"/>
                        </a:spcAft>
                        <a:buNone/>
                      </a:pPr>
                      <a:r>
                        <a:rPr lang="en-US" sz="1275" b="1" i="0" u="none" strike="noStrike" cap="none">
                          <a:solidFill>
                            <a:srgbClr val="334155"/>
                          </a:solidFill>
                          <a:latin typeface="Inter"/>
                          <a:ea typeface="Inter"/>
                          <a:cs typeface="Inter"/>
                          <a:sym typeface="Inter"/>
                        </a:rPr>
                        <a:t>k+</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Orijinal gizli anahtarın, kullanılan hash fonksiyonunun blok boyutuna (örneğin 512 bit) genişletilmiş halidir. Kısa anahtarların sonuna sıfır eklenir, uzun anahtarlar ise önce hash işleminden geçirilir.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571500">
                <a:tc>
                  <a:txBody>
                    <a:bodyPr/>
                    <a:lstStyle/>
                    <a:p>
                      <a:pPr marL="0" marR="0" lvl="0" indent="0" algn="l" rtl="0">
                        <a:spcBef>
                          <a:spcPts val="0"/>
                        </a:spcBef>
                        <a:spcAft>
                          <a:spcPts val="0"/>
                        </a:spcAft>
                        <a:buNone/>
                      </a:pPr>
                      <a:r>
                        <a:rPr lang="en-US" sz="1275" b="1" i="0" u="none" strike="noStrike" cap="none">
                          <a:solidFill>
                            <a:srgbClr val="334155"/>
                          </a:solidFill>
                          <a:latin typeface="Inter"/>
                          <a:ea typeface="Inter"/>
                          <a:cs typeface="Inter"/>
                          <a:sym typeface="Inter"/>
                        </a:rPr>
                        <a:t>ipad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İç Dolgu Sabiti (Inner Pad). 0x36 bayt değerinin ilgili blok boyutu miktarınca yan yana tekrar ettirilmesiyle oluşturulan sabit dizidir (0x363636...).</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1"/>
                  </a:ext>
                </a:extLst>
              </a:tr>
              <a:tr h="571500">
                <a:tc>
                  <a:txBody>
                    <a:bodyPr/>
                    <a:lstStyle/>
                    <a:p>
                      <a:pPr marL="0" marR="0" lvl="0" indent="0" algn="l" rtl="0">
                        <a:spcBef>
                          <a:spcPts val="0"/>
                        </a:spcBef>
                        <a:spcAft>
                          <a:spcPts val="0"/>
                        </a:spcAft>
                        <a:buNone/>
                      </a:pPr>
                      <a:r>
                        <a:rPr lang="en-US" sz="1275" b="1" i="0" u="none" strike="noStrike" cap="none">
                          <a:solidFill>
                            <a:srgbClr val="334155"/>
                          </a:solidFill>
                          <a:latin typeface="Inter"/>
                          <a:ea typeface="Inter"/>
                          <a:cs typeface="Inter"/>
                          <a:sym typeface="Inter"/>
                        </a:rPr>
                        <a:t>opad</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Dış Dolgu Sabiti (Outer Pad). 0x5C bayt değerinin ilgili blok boyutu miktarınca yan yana tekrar ettirilmesiyle oluşturulan sabit dizidir (0x5C5C5C...).</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571500">
                <a:tc>
                  <a:txBody>
                    <a:bodyPr/>
                    <a:lstStyle/>
                    <a:p>
                      <a:pPr marL="0" marR="0" lvl="0" indent="0" algn="l" rtl="0">
                        <a:spcBef>
                          <a:spcPts val="0"/>
                        </a:spcBef>
                        <a:spcAft>
                          <a:spcPts val="0"/>
                        </a:spcAft>
                        <a:buNone/>
                      </a:pPr>
                      <a:r>
                        <a:rPr lang="en-US" sz="1275" b="1" i="0" u="none" strike="noStrike" cap="none">
                          <a:solidFill>
                            <a:srgbClr val="334155"/>
                          </a:solidFill>
                          <a:latin typeface="Inter"/>
                          <a:ea typeface="Inter"/>
                          <a:cs typeface="Inter"/>
                          <a:sym typeface="Inter"/>
                        </a:rPr>
                        <a:t>⊕</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tc>
                  <a:txBody>
                    <a:bodyPr/>
                    <a:lstStyle/>
                    <a:p>
                      <a:pPr marL="0" marR="0" lvl="0" indent="0" algn="l" rtl="0">
                        <a:spcBef>
                          <a:spcPts val="0"/>
                        </a:spcBef>
                        <a:spcAft>
                          <a:spcPts val="0"/>
                        </a:spcAft>
                        <a:buNone/>
                      </a:pPr>
                      <a:r>
                        <a:rPr lang="en-US" sz="1275" b="0" i="0" u="none" strike="noStrike" cap="none">
                          <a:solidFill>
                            <a:srgbClr val="334155"/>
                          </a:solidFill>
                          <a:latin typeface="Inter"/>
                          <a:ea typeface="Inter"/>
                          <a:cs typeface="Inter"/>
                          <a:sym typeface="Inter"/>
                        </a:rPr>
                        <a:t>Bit düzeyinde XOR (Özel Veya) mantıksal işlem operatörüdür.</a:t>
                      </a:r>
                      <a:endParaRPr/>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8FAFC"/>
                    </a:solidFill>
                  </a:tcPr>
                </a:tc>
                <a:extLst>
                  <a:ext uri="{0D108BD9-81ED-4DB2-BD59-A6C34878D82A}">
                    <a16:rowId xmlns:a16="http://schemas.microsoft.com/office/drawing/2014/main" val="10003"/>
                  </a:ext>
                </a:extLst>
              </a:tr>
            </a:tbl>
          </a:graphicData>
        </a:graphic>
      </p:graphicFrame>
      <p:sp>
        <p:nvSpPr>
          <p:cNvPr id="339" name="Google Shape;339;p28"/>
          <p:cNvSpPr/>
          <p:nvPr/>
        </p:nvSpPr>
        <p:spPr>
          <a:xfrm>
            <a:off x="942975" y="5454104"/>
            <a:ext cx="2072580"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0" name="Google Shape;340;p28"/>
          <p:cNvSpPr/>
          <p:nvPr/>
        </p:nvSpPr>
        <p:spPr>
          <a:xfrm>
            <a:off x="3015555" y="5454104"/>
            <a:ext cx="829061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4"/>
        <p:cNvGrpSpPr/>
        <p:nvPr/>
      </p:nvGrpSpPr>
      <p:grpSpPr>
        <a:xfrm>
          <a:off x="0" y="0"/>
          <a:ext cx="0" cy="0"/>
          <a:chOff x="0" y="0"/>
          <a:chExt cx="0" cy="0"/>
        </a:xfrm>
      </p:grpSpPr>
      <p:pic>
        <p:nvPicPr>
          <p:cNvPr id="345" name="Google Shape;345;p29"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346" name="Google Shape;346;p29" descr="image.png"/>
          <p:cNvPicPr preferRelativeResize="0"/>
          <p:nvPr/>
        </p:nvPicPr>
        <p:blipFill rotWithShape="1">
          <a:blip r:embed="rId4">
            <a:alphaModFix/>
          </a:blip>
          <a:srcRect/>
          <a:stretch/>
        </p:blipFill>
        <p:spPr>
          <a:xfrm>
            <a:off x="676275" y="4632870"/>
            <a:ext cx="10839450" cy="990600"/>
          </a:xfrm>
          <a:prstGeom prst="rect">
            <a:avLst/>
          </a:prstGeom>
          <a:noFill/>
          <a:ln>
            <a:noFill/>
          </a:ln>
        </p:spPr>
      </p:pic>
      <p:pic>
        <p:nvPicPr>
          <p:cNvPr id="347" name="Google Shape;347;p29" descr="image.png"/>
          <p:cNvPicPr preferRelativeResize="0"/>
          <p:nvPr/>
        </p:nvPicPr>
        <p:blipFill rotWithShape="1">
          <a:blip r:embed="rId5">
            <a:alphaModFix/>
          </a:blip>
          <a:srcRect/>
          <a:stretch/>
        </p:blipFill>
        <p:spPr>
          <a:xfrm>
            <a:off x="676275" y="1794420"/>
            <a:ext cx="5229225" cy="2600325"/>
          </a:xfrm>
          <a:prstGeom prst="rect">
            <a:avLst/>
          </a:prstGeom>
          <a:noFill/>
          <a:ln>
            <a:noFill/>
          </a:ln>
        </p:spPr>
      </p:pic>
      <p:pic>
        <p:nvPicPr>
          <p:cNvPr id="348" name="Google Shape;348;p29" descr="image.png"/>
          <p:cNvPicPr preferRelativeResize="0"/>
          <p:nvPr/>
        </p:nvPicPr>
        <p:blipFill rotWithShape="1">
          <a:blip r:embed="rId6">
            <a:alphaModFix/>
          </a:blip>
          <a:srcRect/>
          <a:stretch/>
        </p:blipFill>
        <p:spPr>
          <a:xfrm>
            <a:off x="6286500" y="1794420"/>
            <a:ext cx="5229225" cy="2600325"/>
          </a:xfrm>
          <a:prstGeom prst="rect">
            <a:avLst/>
          </a:prstGeom>
          <a:noFill/>
          <a:ln>
            <a:noFill/>
          </a:ln>
        </p:spPr>
      </p:pic>
      <p:sp>
        <p:nvSpPr>
          <p:cNvPr id="349" name="Google Shape;349;p29"/>
          <p:cNvSpPr txBox="1"/>
          <p:nvPr/>
        </p:nvSpPr>
        <p:spPr>
          <a:xfrm>
            <a:off x="1276350" y="485775"/>
            <a:ext cx="10239375"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HMAC İşlem Basamakları ve İç-Dış Döngü Güvencesi</a:t>
            </a:r>
            <a:endParaRPr/>
          </a:p>
        </p:txBody>
      </p:sp>
      <p:sp>
        <p:nvSpPr>
          <p:cNvPr id="350" name="Google Shape;350;p29"/>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51" name="Google Shape;351;p29" descr="image.png"/>
          <p:cNvPicPr preferRelativeResize="0"/>
          <p:nvPr/>
        </p:nvPicPr>
        <p:blipFill rotWithShape="1">
          <a:blip r:embed="rId7">
            <a:alphaModFix/>
          </a:blip>
          <a:srcRect/>
          <a:stretch/>
        </p:blipFill>
        <p:spPr>
          <a:xfrm>
            <a:off x="676275" y="523875"/>
            <a:ext cx="457200" cy="361950"/>
          </a:xfrm>
          <a:prstGeom prst="rect">
            <a:avLst/>
          </a:prstGeom>
          <a:noFill/>
          <a:ln>
            <a:noFill/>
          </a:ln>
        </p:spPr>
      </p:pic>
      <p:sp>
        <p:nvSpPr>
          <p:cNvPr id="352" name="Google Shape;352;p29"/>
          <p:cNvSpPr txBox="1"/>
          <p:nvPr/>
        </p:nvSpPr>
        <p:spPr>
          <a:xfrm>
            <a:off x="676275" y="1314450"/>
            <a:ext cx="10839450" cy="28947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HMAC fonksiyonu, girdiyi iki farklı aşamadan geçirerek işler ve Uzunluk Uzatma Saldırılarını imkansız kılar:</a:t>
            </a:r>
            <a:endParaRPr/>
          </a:p>
        </p:txBody>
      </p:sp>
      <p:sp>
        <p:nvSpPr>
          <p:cNvPr id="353" name="Google Shape;353;p29"/>
          <p:cNvSpPr txBox="1"/>
          <p:nvPr/>
        </p:nvSpPr>
        <p:spPr>
          <a:xfrm>
            <a:off x="676275" y="6448425"/>
            <a:ext cx="28386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354" name="Google Shape;354;p29"/>
          <p:cNvSpPr txBox="1"/>
          <p:nvPr/>
        </p:nvSpPr>
        <p:spPr>
          <a:xfrm>
            <a:off x="11020425" y="6448425"/>
            <a:ext cx="4953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17</a:t>
            </a:r>
            <a:endParaRPr/>
          </a:p>
        </p:txBody>
      </p:sp>
      <p:sp>
        <p:nvSpPr>
          <p:cNvPr id="355" name="Google Shape;355;p29"/>
          <p:cNvSpPr txBox="1"/>
          <p:nvPr/>
        </p:nvSpPr>
        <p:spPr>
          <a:xfrm>
            <a:off x="866775" y="4823370"/>
            <a:ext cx="10458450" cy="609600"/>
          </a:xfrm>
          <a:prstGeom prst="rect">
            <a:avLst/>
          </a:prstGeom>
          <a:noFill/>
          <a:ln>
            <a:noFill/>
          </a:ln>
        </p:spPr>
        <p:txBody>
          <a:bodyPr spcFirstLastPara="1" wrap="square" lIns="333375"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15803D"/>
                </a:solidFill>
                <a:latin typeface="Inter SemiBold"/>
                <a:ea typeface="Inter SemiBold"/>
                <a:cs typeface="Inter SemiBold"/>
                <a:sym typeface="Inter SemiBold"/>
              </a:rPr>
              <a:t>Temel Kriptografik İlke: Dış katmanda yapılan ikinci hash işlemi, içteki Merkle-Dåmgard zincirinin ara durum çıktılarını tamamen maskeler ve dışarıdan ekleme yapılmasını engeller.</a:t>
            </a:r>
            <a:endParaRPr/>
          </a:p>
        </p:txBody>
      </p:sp>
      <p:sp>
        <p:nvSpPr>
          <p:cNvPr id="356" name="Google Shape;356;p29"/>
          <p:cNvSpPr txBox="1"/>
          <p:nvPr/>
        </p:nvSpPr>
        <p:spPr>
          <a:xfrm>
            <a:off x="942975" y="2003970"/>
            <a:ext cx="499062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Aşama 1: İç Katman İşlemleri (Inner Loop)</a:t>
            </a:r>
            <a:endParaRPr/>
          </a:p>
        </p:txBody>
      </p:sp>
      <p:sp>
        <p:nvSpPr>
          <p:cNvPr id="357" name="Google Shape;357;p29"/>
          <p:cNvSpPr txBox="1"/>
          <p:nvPr/>
        </p:nvSpPr>
        <p:spPr>
          <a:xfrm>
            <a:off x="6553200" y="2003970"/>
            <a:ext cx="499062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Aşama 2: Dış Katman İşlemleri (Outer Loop)</a:t>
            </a:r>
            <a:endParaRPr/>
          </a:p>
        </p:txBody>
      </p:sp>
      <p:pic>
        <p:nvPicPr>
          <p:cNvPr id="358" name="Google Shape;358;p29" descr="image.png"/>
          <p:cNvPicPr preferRelativeResize="0"/>
          <p:nvPr/>
        </p:nvPicPr>
        <p:blipFill rotWithShape="1">
          <a:blip r:embed="rId8">
            <a:alphaModFix/>
          </a:blip>
          <a:srcRect/>
          <a:stretch/>
        </p:blipFill>
        <p:spPr>
          <a:xfrm>
            <a:off x="1052512" y="4880520"/>
            <a:ext cx="238125" cy="190500"/>
          </a:xfrm>
          <a:prstGeom prst="rect">
            <a:avLst/>
          </a:prstGeom>
          <a:noFill/>
          <a:ln>
            <a:noFill/>
          </a:ln>
        </p:spPr>
      </p:pic>
      <p:sp>
        <p:nvSpPr>
          <p:cNvPr id="359" name="Google Shape;359;p29"/>
          <p:cNvSpPr txBox="1"/>
          <p:nvPr/>
        </p:nvSpPr>
        <p:spPr>
          <a:xfrm>
            <a:off x="1228725" y="2327820"/>
            <a:ext cx="4467225" cy="5429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Dolgulanmış anahtar (k+) ile iç dolgu sabiti (ipad) bit düzeyinde XOR işlemine tabi tutulur.</a:t>
            </a:r>
            <a:endParaRPr/>
          </a:p>
        </p:txBody>
      </p:sp>
      <p:sp>
        <p:nvSpPr>
          <p:cNvPr id="360" name="Google Shape;360;p29"/>
          <p:cNvSpPr txBox="1"/>
          <p:nvPr/>
        </p:nvSpPr>
        <p:spPr>
          <a:xfrm>
            <a:off x="1228725" y="2965995"/>
            <a:ext cx="446722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Çıkan sonucun ardına doğrulanacak asıl mesaj (x) eklenir.</a:t>
            </a:r>
            <a:endParaRPr/>
          </a:p>
        </p:txBody>
      </p:sp>
      <p:sp>
        <p:nvSpPr>
          <p:cNvPr id="361" name="Google Shape;361;p29"/>
          <p:cNvSpPr txBox="1"/>
          <p:nvPr/>
        </p:nvSpPr>
        <p:spPr>
          <a:xfrm>
            <a:off x="1228725" y="3575595"/>
            <a:ext cx="446722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Elde edilen bu birleşik blok yapısının hash çıktısı hesaplanır.</a:t>
            </a:r>
            <a:endParaRPr/>
          </a:p>
        </p:txBody>
      </p:sp>
      <p:sp>
        <p:nvSpPr>
          <p:cNvPr id="362" name="Google Shape;362;p29"/>
          <p:cNvSpPr txBox="1"/>
          <p:nvPr/>
        </p:nvSpPr>
        <p:spPr>
          <a:xfrm>
            <a:off x="6838950" y="2327820"/>
            <a:ext cx="4467225" cy="5429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Aynı anahtar (k+) bu kez dış dolgu sabiti (opad) ile XOR işlemine sokulur.</a:t>
            </a:r>
            <a:endParaRPr/>
          </a:p>
        </p:txBody>
      </p:sp>
      <p:sp>
        <p:nvSpPr>
          <p:cNvPr id="363" name="Google Shape;363;p29"/>
          <p:cNvSpPr txBox="1"/>
          <p:nvPr/>
        </p:nvSpPr>
        <p:spPr>
          <a:xfrm>
            <a:off x="6838950" y="2965995"/>
            <a:ext cx="446722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Çıkan yeni verinin sonuna, birinci aşamadan elde edilen iç hash çıktısı eklenir.</a:t>
            </a:r>
            <a:endParaRPr/>
          </a:p>
        </p:txBody>
      </p:sp>
      <p:sp>
        <p:nvSpPr>
          <p:cNvPr id="364" name="Google Shape;364;p29"/>
          <p:cNvSpPr txBox="1"/>
          <p:nvPr/>
        </p:nvSpPr>
        <p:spPr>
          <a:xfrm>
            <a:off x="6838950" y="3575595"/>
            <a:ext cx="4467225" cy="51435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Oluşan nihai veri bloğu tekrar hash'lenerek MAC etiketi üretilir.</a:t>
            </a:r>
            <a:endParaRPr/>
          </a:p>
        </p:txBody>
      </p:sp>
      <p:pic>
        <p:nvPicPr>
          <p:cNvPr id="365" name="Google Shape;365;p29" descr="image.png"/>
          <p:cNvPicPr preferRelativeResize="0"/>
          <p:nvPr/>
        </p:nvPicPr>
        <p:blipFill rotWithShape="1">
          <a:blip r:embed="rId9">
            <a:alphaModFix/>
          </a:blip>
          <a:srcRect/>
          <a:stretch/>
        </p:blipFill>
        <p:spPr>
          <a:xfrm>
            <a:off x="942975" y="2327820"/>
            <a:ext cx="171450" cy="180975"/>
          </a:xfrm>
          <a:prstGeom prst="rect">
            <a:avLst/>
          </a:prstGeom>
          <a:noFill/>
          <a:ln>
            <a:noFill/>
          </a:ln>
        </p:spPr>
      </p:pic>
      <p:pic>
        <p:nvPicPr>
          <p:cNvPr id="366" name="Google Shape;366;p29" descr="image.png"/>
          <p:cNvPicPr preferRelativeResize="0"/>
          <p:nvPr/>
        </p:nvPicPr>
        <p:blipFill rotWithShape="1">
          <a:blip r:embed="rId9">
            <a:alphaModFix/>
          </a:blip>
          <a:srcRect/>
          <a:stretch/>
        </p:blipFill>
        <p:spPr>
          <a:xfrm>
            <a:off x="942975" y="2965995"/>
            <a:ext cx="171450" cy="180975"/>
          </a:xfrm>
          <a:prstGeom prst="rect">
            <a:avLst/>
          </a:prstGeom>
          <a:noFill/>
          <a:ln>
            <a:noFill/>
          </a:ln>
        </p:spPr>
      </p:pic>
      <p:pic>
        <p:nvPicPr>
          <p:cNvPr id="367" name="Google Shape;367;p29" descr="image.png"/>
          <p:cNvPicPr preferRelativeResize="0"/>
          <p:nvPr/>
        </p:nvPicPr>
        <p:blipFill rotWithShape="1">
          <a:blip r:embed="rId9">
            <a:alphaModFix/>
          </a:blip>
          <a:srcRect/>
          <a:stretch/>
        </p:blipFill>
        <p:spPr>
          <a:xfrm>
            <a:off x="942975" y="3575595"/>
            <a:ext cx="171450" cy="180975"/>
          </a:xfrm>
          <a:prstGeom prst="rect">
            <a:avLst/>
          </a:prstGeom>
          <a:noFill/>
          <a:ln>
            <a:noFill/>
          </a:ln>
        </p:spPr>
      </p:pic>
      <p:pic>
        <p:nvPicPr>
          <p:cNvPr id="368" name="Google Shape;368;p29" descr="image.png"/>
          <p:cNvPicPr preferRelativeResize="0"/>
          <p:nvPr/>
        </p:nvPicPr>
        <p:blipFill rotWithShape="1">
          <a:blip r:embed="rId9">
            <a:alphaModFix/>
          </a:blip>
          <a:srcRect/>
          <a:stretch/>
        </p:blipFill>
        <p:spPr>
          <a:xfrm>
            <a:off x="6553200" y="2327820"/>
            <a:ext cx="171450" cy="180975"/>
          </a:xfrm>
          <a:prstGeom prst="rect">
            <a:avLst/>
          </a:prstGeom>
          <a:noFill/>
          <a:ln>
            <a:noFill/>
          </a:ln>
        </p:spPr>
      </p:pic>
      <p:pic>
        <p:nvPicPr>
          <p:cNvPr id="369" name="Google Shape;369;p29" descr="image.png"/>
          <p:cNvPicPr preferRelativeResize="0"/>
          <p:nvPr/>
        </p:nvPicPr>
        <p:blipFill rotWithShape="1">
          <a:blip r:embed="rId9">
            <a:alphaModFix/>
          </a:blip>
          <a:srcRect/>
          <a:stretch/>
        </p:blipFill>
        <p:spPr>
          <a:xfrm>
            <a:off x="6553200" y="2965995"/>
            <a:ext cx="171450" cy="180975"/>
          </a:xfrm>
          <a:prstGeom prst="rect">
            <a:avLst/>
          </a:prstGeom>
          <a:noFill/>
          <a:ln>
            <a:noFill/>
          </a:ln>
        </p:spPr>
      </p:pic>
      <p:pic>
        <p:nvPicPr>
          <p:cNvPr id="370" name="Google Shape;370;p29" descr="image.png"/>
          <p:cNvPicPr preferRelativeResize="0"/>
          <p:nvPr/>
        </p:nvPicPr>
        <p:blipFill rotWithShape="1">
          <a:blip r:embed="rId9">
            <a:alphaModFix/>
          </a:blip>
          <a:srcRect/>
          <a:stretch/>
        </p:blipFill>
        <p:spPr>
          <a:xfrm>
            <a:off x="6553200" y="3575595"/>
            <a:ext cx="171450" cy="1809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74"/>
        <p:cNvGrpSpPr/>
        <p:nvPr/>
      </p:nvGrpSpPr>
      <p:grpSpPr>
        <a:xfrm>
          <a:off x="0" y="0"/>
          <a:ext cx="0" cy="0"/>
          <a:chOff x="0" y="0"/>
          <a:chExt cx="0" cy="0"/>
        </a:xfrm>
      </p:grpSpPr>
      <p:sp>
        <p:nvSpPr>
          <p:cNvPr id="375" name="Google Shape;375;p30"/>
          <p:cNvSpPr txBox="1"/>
          <p:nvPr/>
        </p:nvSpPr>
        <p:spPr>
          <a:xfrm>
            <a:off x="4965858" y="2708969"/>
            <a:ext cx="2260282" cy="5334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450" b="1" i="0" u="none" strike="noStrike" cap="none">
                <a:solidFill>
                  <a:srgbClr val="FFFFFF"/>
                </a:solidFill>
                <a:latin typeface="Inter"/>
                <a:ea typeface="Inter"/>
                <a:cs typeface="Inter"/>
                <a:sym typeface="Inter"/>
              </a:rPr>
              <a:t>BÖLÜM IV</a:t>
            </a:r>
            <a:endParaRPr/>
          </a:p>
        </p:txBody>
      </p:sp>
      <p:sp>
        <p:nvSpPr>
          <p:cNvPr id="376" name="Google Shape;376;p30"/>
          <p:cNvSpPr/>
          <p:nvPr/>
        </p:nvSpPr>
        <p:spPr>
          <a:xfrm>
            <a:off x="5524500" y="3575744"/>
            <a:ext cx="1143000" cy="47625"/>
          </a:xfrm>
          <a:prstGeom prst="roundRect">
            <a:avLst>
              <a:gd name="adj" fmla="val 40000"/>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7" name="Google Shape;377;p30"/>
          <p:cNvSpPr txBox="1"/>
          <p:nvPr/>
        </p:nvSpPr>
        <p:spPr>
          <a:xfrm>
            <a:off x="3267075" y="3813869"/>
            <a:ext cx="5657850" cy="335160"/>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dirty="0">
                <a:solidFill>
                  <a:srgbClr val="38BDF8"/>
                </a:solidFill>
                <a:latin typeface="Inter"/>
                <a:ea typeface="Inter"/>
                <a:cs typeface="Inter"/>
                <a:sym typeface="Inter"/>
              </a:rPr>
              <a:t>Blok </a:t>
            </a:r>
            <a:r>
              <a:rPr lang="en-US" sz="1650" b="0" i="0" u="none" strike="noStrike" cap="none" dirty="0" err="1">
                <a:solidFill>
                  <a:srgbClr val="38BDF8"/>
                </a:solidFill>
                <a:latin typeface="Inter"/>
                <a:ea typeface="Inter"/>
                <a:cs typeface="Inter"/>
                <a:sym typeface="Inter"/>
              </a:rPr>
              <a:t>Şifre</a:t>
            </a:r>
            <a:r>
              <a:rPr lang="en-US" sz="1650" b="0" i="0" u="none" strike="noStrike" cap="none" dirty="0">
                <a:solidFill>
                  <a:srgbClr val="38BDF8"/>
                </a:solidFill>
                <a:latin typeface="Inter"/>
                <a:ea typeface="Inter"/>
                <a:cs typeface="Inter"/>
                <a:sym typeface="Inter"/>
              </a:rPr>
              <a:t> </a:t>
            </a:r>
            <a:r>
              <a:rPr lang="en-US" sz="1650" b="0" i="0" u="none" strike="noStrike" cap="none" dirty="0" err="1">
                <a:solidFill>
                  <a:srgbClr val="38BDF8"/>
                </a:solidFill>
                <a:latin typeface="Inter"/>
                <a:ea typeface="Inter"/>
                <a:cs typeface="Inter"/>
                <a:sym typeface="Inter"/>
              </a:rPr>
              <a:t>Tabanlı</a:t>
            </a:r>
            <a:r>
              <a:rPr lang="en-US" sz="1650" b="0" i="0" u="none" strike="noStrike" cap="none" dirty="0">
                <a:solidFill>
                  <a:srgbClr val="38BDF8"/>
                </a:solidFill>
                <a:latin typeface="Inter"/>
                <a:ea typeface="Inter"/>
                <a:cs typeface="Inter"/>
                <a:sym typeface="Inter"/>
              </a:rPr>
              <a:t> </a:t>
            </a:r>
            <a:r>
              <a:rPr lang="en-US" sz="1650" b="0" i="0" u="none" strike="noStrike" cap="none" dirty="0" err="1">
                <a:solidFill>
                  <a:srgbClr val="38BDF8"/>
                </a:solidFill>
                <a:latin typeface="Inter"/>
                <a:ea typeface="Inter"/>
                <a:cs typeface="Inter"/>
                <a:sym typeface="Inter"/>
              </a:rPr>
              <a:t>Tasarımlar</a:t>
            </a:r>
            <a:r>
              <a:rPr lang="en-US" sz="1650" b="0" i="0" u="none" strike="noStrike" cap="none" dirty="0">
                <a:solidFill>
                  <a:srgbClr val="38BDF8"/>
                </a:solidFill>
                <a:latin typeface="Inter"/>
                <a:ea typeface="Inter"/>
                <a:cs typeface="Inter"/>
                <a:sym typeface="Inter"/>
              </a:rPr>
              <a:t>: CBC-MAC </a:t>
            </a:r>
            <a:r>
              <a:rPr lang="en-US" sz="1650" b="0" i="0" u="none" strike="noStrike" cap="none" dirty="0" err="1">
                <a:solidFill>
                  <a:srgbClr val="38BDF8"/>
                </a:solidFill>
                <a:latin typeface="Inter"/>
                <a:ea typeface="Inter"/>
                <a:cs typeface="Inter"/>
                <a:sym typeface="Inter"/>
              </a:rPr>
              <a:t>ve</a:t>
            </a:r>
            <a:r>
              <a:rPr lang="en-US" sz="1650" b="0" i="0" u="none" strike="noStrike" cap="none" dirty="0">
                <a:solidFill>
                  <a:srgbClr val="38BDF8"/>
                </a:solidFill>
                <a:latin typeface="Inter"/>
                <a:ea typeface="Inter"/>
                <a:cs typeface="Inter"/>
                <a:sym typeface="Inter"/>
              </a:rPr>
              <a:t> CMAC </a:t>
            </a:r>
            <a:r>
              <a:rPr lang="en-US" sz="1650" b="0" i="0" u="none" strike="noStrike" cap="none" dirty="0" err="1">
                <a:solidFill>
                  <a:srgbClr val="38BDF8"/>
                </a:solidFill>
                <a:latin typeface="Inter"/>
                <a:ea typeface="Inter"/>
                <a:cs typeface="Inter"/>
                <a:sym typeface="Inter"/>
              </a:rPr>
              <a:t>Gelişimi</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1"/>
        <p:cNvGrpSpPr/>
        <p:nvPr/>
      </p:nvGrpSpPr>
      <p:grpSpPr>
        <a:xfrm>
          <a:off x="0" y="0"/>
          <a:ext cx="0" cy="0"/>
          <a:chOff x="0" y="0"/>
          <a:chExt cx="0" cy="0"/>
        </a:xfrm>
      </p:grpSpPr>
      <p:pic>
        <p:nvPicPr>
          <p:cNvPr id="382" name="Google Shape;382;p31"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383" name="Google Shape;383;p31" descr="image.png"/>
          <p:cNvPicPr preferRelativeResize="0"/>
          <p:nvPr/>
        </p:nvPicPr>
        <p:blipFill rotWithShape="1">
          <a:blip r:embed="rId4">
            <a:alphaModFix/>
          </a:blip>
          <a:srcRect/>
          <a:stretch/>
        </p:blipFill>
        <p:spPr>
          <a:xfrm>
            <a:off x="6286500" y="2373362"/>
            <a:ext cx="5229225" cy="2296417"/>
          </a:xfrm>
          <a:prstGeom prst="rect">
            <a:avLst/>
          </a:prstGeom>
          <a:noFill/>
          <a:ln>
            <a:noFill/>
          </a:ln>
        </p:spPr>
      </p:pic>
      <p:sp>
        <p:nvSpPr>
          <p:cNvPr id="384" name="Google Shape;384;p31"/>
          <p:cNvSpPr txBox="1"/>
          <p:nvPr/>
        </p:nvSpPr>
        <p:spPr>
          <a:xfrm>
            <a:off x="1228725" y="485775"/>
            <a:ext cx="10287000"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CBC-MAC Çalışma Mekanizması ve Yapısı</a:t>
            </a:r>
            <a:endParaRPr/>
          </a:p>
        </p:txBody>
      </p:sp>
      <p:sp>
        <p:nvSpPr>
          <p:cNvPr id="385" name="Google Shape;385;p31"/>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86" name="Google Shape;386;p31" descr="image.png"/>
          <p:cNvPicPr preferRelativeResize="0"/>
          <p:nvPr/>
        </p:nvPicPr>
        <p:blipFill rotWithShape="1">
          <a:blip r:embed="rId5">
            <a:alphaModFix/>
          </a:blip>
          <a:srcRect/>
          <a:stretch/>
        </p:blipFill>
        <p:spPr>
          <a:xfrm>
            <a:off x="676275" y="523875"/>
            <a:ext cx="409575" cy="361950"/>
          </a:xfrm>
          <a:prstGeom prst="rect">
            <a:avLst/>
          </a:prstGeom>
          <a:noFill/>
          <a:ln>
            <a:noFill/>
          </a:ln>
        </p:spPr>
      </p:pic>
      <p:sp>
        <p:nvSpPr>
          <p:cNvPr id="387" name="Google Shape;387;p31"/>
          <p:cNvSpPr txBox="1"/>
          <p:nvPr/>
        </p:nvSpPr>
        <p:spPr>
          <a:xfrm>
            <a:off x="676275" y="1314450"/>
            <a:ext cx="1083945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Sistem mimarisinde hazır bir hash fonksiyonu bulunmadığı fakat donanımsal olarak hızlandırılmış blok şifreleme algoritmalarının (AES gibi) mevcut olduğu durumlarda, bütünlük doğrulaması sağlamak amacıyla blok şifreler CBC modunda çalıştırılabilir.</a:t>
            </a:r>
            <a:endParaRPr/>
          </a:p>
        </p:txBody>
      </p:sp>
      <p:sp>
        <p:nvSpPr>
          <p:cNvPr id="388" name="Google Shape;388;p31"/>
          <p:cNvSpPr txBox="1"/>
          <p:nvPr/>
        </p:nvSpPr>
        <p:spPr>
          <a:xfrm>
            <a:off x="676275" y="6448425"/>
            <a:ext cx="28890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389" name="Google Shape;389;p31"/>
          <p:cNvSpPr txBox="1"/>
          <p:nvPr/>
        </p:nvSpPr>
        <p:spPr>
          <a:xfrm>
            <a:off x="11010900" y="6448425"/>
            <a:ext cx="50482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19</a:t>
            </a:r>
            <a:endParaRPr/>
          </a:p>
        </p:txBody>
      </p:sp>
      <p:sp>
        <p:nvSpPr>
          <p:cNvPr id="390" name="Google Shape;390;p31"/>
          <p:cNvSpPr txBox="1"/>
          <p:nvPr/>
        </p:nvSpPr>
        <p:spPr>
          <a:xfrm>
            <a:off x="676275" y="2373362"/>
            <a:ext cx="5229300" cy="127170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475569"/>
                </a:solidFill>
                <a:latin typeface="Inter"/>
                <a:ea typeface="Inter"/>
                <a:cs typeface="Inter"/>
                <a:sym typeface="Inter"/>
              </a:rPr>
              <a:t>Uygulama Prensipleri:</a:t>
            </a:r>
            <a:r>
              <a:rPr lang="en-US" sz="1425" b="0" i="0" u="none" strike="noStrike" cap="none">
                <a:solidFill>
                  <a:srgbClr val="475569"/>
                </a:solidFill>
                <a:latin typeface="Inter"/>
                <a:ea typeface="Inter"/>
                <a:cs typeface="Inter"/>
                <a:sym typeface="Inter"/>
              </a:rPr>
              <a:t> Mesaj, şifreleme algoritmasının blok boyutu sınırlarına göre eşit parçalara bölünür. Şifreleme zincirinin Başlangıç Vektörü (IV) değeri zorunlu olarak </a:t>
            </a:r>
            <a:r>
              <a:rPr lang="en-US" sz="1425" b="1" i="0" u="none" strike="noStrike" cap="none">
                <a:solidFill>
                  <a:srgbClr val="475569"/>
                </a:solidFill>
                <a:latin typeface="Inter"/>
                <a:ea typeface="Inter"/>
                <a:cs typeface="Inter"/>
                <a:sym typeface="Inter"/>
              </a:rPr>
              <a:t>tamamen sıfır (0)</a:t>
            </a:r>
            <a:r>
              <a:rPr lang="en-US" sz="1425" b="0" i="0" u="none" strike="noStrike" cap="none">
                <a:solidFill>
                  <a:srgbClr val="475569"/>
                </a:solidFill>
                <a:latin typeface="Inter"/>
                <a:ea typeface="Inter"/>
                <a:cs typeface="Inter"/>
                <a:sym typeface="Inter"/>
              </a:rPr>
              <a:t> şeklinde set edilir.</a:t>
            </a:r>
            <a:endParaRPr/>
          </a:p>
        </p:txBody>
      </p:sp>
      <p:sp>
        <p:nvSpPr>
          <p:cNvPr id="391" name="Google Shape;391;p31"/>
          <p:cNvSpPr txBox="1"/>
          <p:nvPr/>
        </p:nvSpPr>
        <p:spPr>
          <a:xfrm>
            <a:off x="676275" y="3721744"/>
            <a:ext cx="5229300" cy="92100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Zincirleme ilerleyen süreçte ara bloklarda oluşan tüm şifreli metin çıktıları atılır. Sürecin en sonunda elde edilen </a:t>
            </a:r>
            <a:r>
              <a:rPr lang="en-US" sz="1425" b="1" i="0" u="none" strike="noStrike" cap="none">
                <a:solidFill>
                  <a:srgbClr val="475569"/>
                </a:solidFill>
                <a:latin typeface="Inter"/>
                <a:ea typeface="Inter"/>
                <a:cs typeface="Inter"/>
                <a:sym typeface="Inter"/>
              </a:rPr>
              <a:t>en son şifreli blok</a:t>
            </a:r>
            <a:r>
              <a:rPr lang="en-US" sz="1425" b="0" i="0" u="none" strike="noStrike" cap="none">
                <a:solidFill>
                  <a:srgbClr val="475569"/>
                </a:solidFill>
                <a:latin typeface="Inter"/>
                <a:ea typeface="Inter"/>
                <a:cs typeface="Inter"/>
                <a:sym typeface="Inter"/>
              </a:rPr>
              <a:t>, MAC etiket kodu olarak atanır.</a:t>
            </a:r>
            <a:endParaRPr/>
          </a:p>
        </p:txBody>
      </p:sp>
      <p:sp>
        <p:nvSpPr>
          <p:cNvPr id="392" name="Google Shape;392;p31"/>
          <p:cNvSpPr txBox="1"/>
          <p:nvPr/>
        </p:nvSpPr>
        <p:spPr>
          <a:xfrm>
            <a:off x="6553200" y="2582912"/>
            <a:ext cx="4990623" cy="2000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350" b="1" i="0" u="none" strike="noStrike" cap="none">
                <a:solidFill>
                  <a:srgbClr val="FFFFFF"/>
                </a:solidFill>
                <a:latin typeface="Inter"/>
                <a:ea typeface="Inter"/>
                <a:cs typeface="Inter"/>
                <a:sym typeface="Inter"/>
              </a:rPr>
              <a:t>Matematiksel Yineleme Döngüsü:</a:t>
            </a:r>
            <a:endParaRPr/>
          </a:p>
        </p:txBody>
      </p:sp>
      <p:sp>
        <p:nvSpPr>
          <p:cNvPr id="393" name="Google Shape;393;p31"/>
          <p:cNvSpPr txBox="1"/>
          <p:nvPr/>
        </p:nvSpPr>
        <p:spPr>
          <a:xfrm>
            <a:off x="6553200" y="2859137"/>
            <a:ext cx="4752975" cy="1601092"/>
          </a:xfrm>
          <a:prstGeom prst="rect">
            <a:avLst/>
          </a:prstGeom>
          <a:noFill/>
          <a:ln>
            <a:noFill/>
          </a:ln>
        </p:spPr>
        <p:txBody>
          <a:bodyPr spcFirstLastPara="1" wrap="square" lIns="0" tIns="0" rIns="0" bIns="0" anchor="t" anchorCtr="0">
            <a:spAutoFit/>
          </a:bodyPr>
          <a:lstStyle/>
          <a:p>
            <a:pPr marL="0" marR="0" lvl="0" indent="0" algn="l" rtl="0">
              <a:lnSpc>
                <a:spcPct val="106666"/>
              </a:lnSpc>
              <a:spcBef>
                <a:spcPts val="0"/>
              </a:spcBef>
              <a:spcAft>
                <a:spcPts val="0"/>
              </a:spcAft>
              <a:buNone/>
            </a:pPr>
            <a:r>
              <a:rPr lang="en-US" sz="1200" b="0" i="0" u="none" strike="noStrike" cap="none">
                <a:solidFill>
                  <a:srgbClr val="38BDF8"/>
                </a:solidFill>
                <a:latin typeface="Fira Code"/>
                <a:ea typeface="Fira Code"/>
                <a:cs typeface="Fira Code"/>
                <a:sym typeface="Fira Code"/>
              </a:rPr>
              <a:t>y1 = ek(x1 ⊕ 0)</a:t>
            </a:r>
            <a:br>
              <a:rPr lang="en-US" sz="1800" b="0" i="0" u="none" strike="noStrike" cap="none">
                <a:solidFill>
                  <a:schemeClr val="dk1"/>
                </a:solidFill>
                <a:latin typeface="Calibri"/>
                <a:ea typeface="Calibri"/>
                <a:cs typeface="Calibri"/>
                <a:sym typeface="Calibri"/>
              </a:rPr>
            </a:br>
            <a:r>
              <a:rPr lang="en-US" sz="1200" b="0" i="0" u="none" strike="noStrike" cap="none">
                <a:solidFill>
                  <a:srgbClr val="38BDF8"/>
                </a:solidFill>
                <a:latin typeface="Fira Code"/>
                <a:ea typeface="Fira Code"/>
                <a:cs typeface="Fira Code"/>
                <a:sym typeface="Fira Code"/>
              </a:rPr>
              <a:t> y2 = ek(x2 ⊕ y1)</a:t>
            </a:r>
            <a:br>
              <a:rPr lang="en-US" sz="1800" b="0" i="0" u="none" strike="noStrike" cap="none">
                <a:solidFill>
                  <a:schemeClr val="dk1"/>
                </a:solidFill>
                <a:latin typeface="Calibri"/>
                <a:ea typeface="Calibri"/>
                <a:cs typeface="Calibri"/>
                <a:sym typeface="Calibri"/>
              </a:rPr>
            </a:br>
            <a:r>
              <a:rPr lang="en-US" sz="1200" b="0" i="0" u="none" strike="noStrike" cap="none">
                <a:solidFill>
                  <a:srgbClr val="38BDF8"/>
                </a:solidFill>
                <a:latin typeface="Fira Code"/>
                <a:ea typeface="Fira Code"/>
                <a:cs typeface="Fira Code"/>
                <a:sym typeface="Fira Code"/>
              </a:rPr>
              <a:t> y3 = ek(x3 ⊕ y2)</a:t>
            </a:r>
            <a:br>
              <a:rPr lang="en-US" sz="1800" b="0" i="0" u="none" strike="noStrike" cap="none">
                <a:solidFill>
                  <a:schemeClr val="dk1"/>
                </a:solidFill>
                <a:latin typeface="Calibri"/>
                <a:ea typeface="Calibri"/>
                <a:cs typeface="Calibri"/>
                <a:sym typeface="Calibri"/>
              </a:rPr>
            </a:br>
            <a:r>
              <a:rPr lang="en-US" sz="1200" b="0" i="0" u="none" strike="noStrike" cap="none">
                <a:solidFill>
                  <a:srgbClr val="38BDF8"/>
                </a:solidFill>
                <a:latin typeface="Fira Code"/>
                <a:ea typeface="Fira Code"/>
                <a:cs typeface="Fira Code"/>
                <a:sym typeface="Fira Code"/>
              </a:rPr>
              <a:t> ...</a:t>
            </a:r>
            <a:br>
              <a:rPr lang="en-US" sz="1800" b="0" i="0" u="none" strike="noStrike" cap="none">
                <a:solidFill>
                  <a:schemeClr val="dk1"/>
                </a:solidFill>
                <a:latin typeface="Calibri"/>
                <a:ea typeface="Calibri"/>
                <a:cs typeface="Calibri"/>
                <a:sym typeface="Calibri"/>
              </a:rPr>
            </a:br>
            <a:r>
              <a:rPr lang="en-US" sz="1200" b="0" i="0" u="none" strike="noStrike" cap="none">
                <a:solidFill>
                  <a:srgbClr val="38BDF8"/>
                </a:solidFill>
                <a:latin typeface="Fira Code"/>
                <a:ea typeface="Fira Code"/>
                <a:cs typeface="Fira Code"/>
                <a:sym typeface="Fira Code"/>
              </a:rPr>
              <a:t> yn = ek(xn ⊕ yn-1)</a:t>
            </a:r>
            <a:br>
              <a:rPr lang="en-US" sz="1800" b="0" i="0" u="none" strike="noStrike" cap="none">
                <a:solidFill>
                  <a:schemeClr val="dk1"/>
                </a:solidFill>
                <a:latin typeface="Calibri"/>
                <a:ea typeface="Calibri"/>
                <a:cs typeface="Calibri"/>
                <a:sym typeface="Calibri"/>
              </a:rPr>
            </a:br>
            <a:r>
              <a:rPr lang="en-US" sz="1200" b="0" i="0" u="none" strike="noStrike" cap="none">
                <a:solidFill>
                  <a:srgbClr val="E11D48"/>
                </a:solidFill>
                <a:latin typeface="Fira Code SemiBold"/>
                <a:ea typeface="Fira Code SemiBold"/>
                <a:cs typeface="Fira Code SemiBold"/>
                <a:sym typeface="Fira Code SemiBold"/>
              </a:rPr>
              <a:t>Etiket Değeri (t) = yn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7"/>
        <p:cNvGrpSpPr/>
        <p:nvPr/>
      </p:nvGrpSpPr>
      <p:grpSpPr>
        <a:xfrm>
          <a:off x="0" y="0"/>
          <a:ext cx="0" cy="0"/>
          <a:chOff x="0" y="0"/>
          <a:chExt cx="0" cy="0"/>
        </a:xfrm>
      </p:grpSpPr>
      <p:pic>
        <p:nvPicPr>
          <p:cNvPr id="398" name="Google Shape;398;p32"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399" name="Google Shape;399;p32" descr="image.png"/>
          <p:cNvPicPr preferRelativeResize="0"/>
          <p:nvPr/>
        </p:nvPicPr>
        <p:blipFill rotWithShape="1">
          <a:blip r:embed="rId4">
            <a:alphaModFix/>
          </a:blip>
          <a:srcRect/>
          <a:stretch/>
        </p:blipFill>
        <p:spPr>
          <a:xfrm>
            <a:off x="676275" y="1314450"/>
            <a:ext cx="10839450" cy="1321891"/>
          </a:xfrm>
          <a:prstGeom prst="rect">
            <a:avLst/>
          </a:prstGeom>
          <a:noFill/>
          <a:ln>
            <a:noFill/>
          </a:ln>
        </p:spPr>
      </p:pic>
      <p:sp>
        <p:nvSpPr>
          <p:cNvPr id="400" name="Google Shape;400;p32"/>
          <p:cNvSpPr txBox="1"/>
          <p:nvPr/>
        </p:nvSpPr>
        <p:spPr>
          <a:xfrm>
            <a:off x="1181100" y="485775"/>
            <a:ext cx="10334625"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Temel CBC-MAC Tasarımının Güvenlik Zafiyeti - Kısım 1</a:t>
            </a:r>
            <a:endParaRPr/>
          </a:p>
        </p:txBody>
      </p:sp>
      <p:sp>
        <p:nvSpPr>
          <p:cNvPr id="401" name="Google Shape;401;p32"/>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02" name="Google Shape;402;p32" descr="image.png"/>
          <p:cNvPicPr preferRelativeResize="0"/>
          <p:nvPr/>
        </p:nvPicPr>
        <p:blipFill rotWithShape="1">
          <a:blip r:embed="rId5">
            <a:alphaModFix/>
          </a:blip>
          <a:srcRect/>
          <a:stretch/>
        </p:blipFill>
        <p:spPr>
          <a:xfrm>
            <a:off x="676275" y="523875"/>
            <a:ext cx="361950" cy="361950"/>
          </a:xfrm>
          <a:prstGeom prst="rect">
            <a:avLst/>
          </a:prstGeom>
          <a:noFill/>
          <a:ln>
            <a:noFill/>
          </a:ln>
        </p:spPr>
      </p:pic>
      <p:sp>
        <p:nvSpPr>
          <p:cNvPr id="403" name="Google Shape;403;p32"/>
          <p:cNvSpPr txBox="1"/>
          <p:nvPr/>
        </p:nvSpPr>
        <p:spPr>
          <a:xfrm>
            <a:off x="676275" y="2826841"/>
            <a:ext cx="10839450"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475569"/>
                </a:solidFill>
                <a:latin typeface="Inter"/>
                <a:ea typeface="Inter"/>
                <a:cs typeface="Inter"/>
                <a:sym typeface="Inter"/>
              </a:rPr>
              <a:t>Açığın Temel Sebebi:</a:t>
            </a:r>
            <a:r>
              <a:rPr lang="en-US" sz="1425" b="0" i="0" u="none" strike="noStrike" cap="none">
                <a:solidFill>
                  <a:srgbClr val="475569"/>
                </a:solidFill>
                <a:latin typeface="Inter"/>
                <a:ea typeface="Inter"/>
                <a:cs typeface="Inter"/>
                <a:sym typeface="Inter"/>
              </a:rPr>
              <a:t> CBC modunun matematiksel girdi-çıktı simetrisi, saldırganca kurgulanacak özel blok eklemeleriyle ara şifreleme adımlarının birbirini götürmesini sağlamak amacıyla manipüle edilebilir. Bu durum, sisteme anahtar parametresi girmeden geçerli imza üretme yeteneği verir.</a:t>
            </a:r>
            <a:endParaRPr/>
          </a:p>
        </p:txBody>
      </p:sp>
      <p:sp>
        <p:nvSpPr>
          <p:cNvPr id="404" name="Google Shape;404;p32"/>
          <p:cNvSpPr txBox="1"/>
          <p:nvPr/>
        </p:nvSpPr>
        <p:spPr>
          <a:xfrm>
            <a:off x="676275" y="3885753"/>
            <a:ext cx="1083945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Bir sonraki slaytta, tek bloktan oluşan meşru bir paket ve etiket verisi kullanılarak iki bloktan oluşan sahte bir verinin, anahtar bilinmeksizin sisteme nasıl kabul ettirilebildiği matematiksel olarak gösterilmiştir.</a:t>
            </a:r>
            <a:endParaRPr/>
          </a:p>
        </p:txBody>
      </p:sp>
      <p:sp>
        <p:nvSpPr>
          <p:cNvPr id="405" name="Google Shape;405;p32"/>
          <p:cNvSpPr txBox="1"/>
          <p:nvPr/>
        </p:nvSpPr>
        <p:spPr>
          <a:xfrm>
            <a:off x="676275" y="6448425"/>
            <a:ext cx="28764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406" name="Google Shape;406;p32"/>
          <p:cNvSpPr txBox="1"/>
          <p:nvPr/>
        </p:nvSpPr>
        <p:spPr>
          <a:xfrm>
            <a:off x="10982325" y="6448425"/>
            <a:ext cx="5334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20</a:t>
            </a:r>
            <a:endParaRPr/>
          </a:p>
        </p:txBody>
      </p:sp>
      <p:sp>
        <p:nvSpPr>
          <p:cNvPr id="407" name="Google Shape;407;p32"/>
          <p:cNvSpPr txBox="1"/>
          <p:nvPr/>
        </p:nvSpPr>
        <p:spPr>
          <a:xfrm>
            <a:off x="942975" y="1524000"/>
            <a:ext cx="1088136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E11D48"/>
                </a:solidFill>
                <a:latin typeface="Inter"/>
                <a:ea typeface="Inter"/>
                <a:cs typeface="Inter"/>
                <a:sym typeface="Inter"/>
              </a:rPr>
              <a:t>Kritik Sınır Koşulu Uyarısı:</a:t>
            </a:r>
            <a:endParaRPr/>
          </a:p>
        </p:txBody>
      </p:sp>
      <p:sp>
        <p:nvSpPr>
          <p:cNvPr id="408" name="Google Shape;408;p32"/>
          <p:cNvSpPr txBox="1"/>
          <p:nvPr/>
        </p:nvSpPr>
        <p:spPr>
          <a:xfrm>
            <a:off x="942975" y="1847850"/>
            <a:ext cx="10363200" cy="578941"/>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Haberleşme kanalında taşınan mesajların uzunlukları sabit bir boyutta değilse, yani değişken uzunluklara sahip veriler doğrulanıyorsa, yalın CBC-MAC yapısı kriptografik olarak güvensizdir ve sahtecilik ataklarına imkan tanır.</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2"/>
        <p:cNvGrpSpPr/>
        <p:nvPr/>
      </p:nvGrpSpPr>
      <p:grpSpPr>
        <a:xfrm>
          <a:off x="0" y="0"/>
          <a:ext cx="0" cy="0"/>
          <a:chOff x="0" y="0"/>
          <a:chExt cx="0" cy="0"/>
        </a:xfrm>
      </p:grpSpPr>
      <p:pic>
        <p:nvPicPr>
          <p:cNvPr id="413" name="Google Shape;413;p33"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414" name="Google Shape;414;p33" descr="image.png"/>
          <p:cNvPicPr preferRelativeResize="0"/>
          <p:nvPr/>
        </p:nvPicPr>
        <p:blipFill rotWithShape="1">
          <a:blip r:embed="rId4">
            <a:alphaModFix/>
          </a:blip>
          <a:srcRect/>
          <a:stretch/>
        </p:blipFill>
        <p:spPr>
          <a:xfrm>
            <a:off x="676275" y="2923133"/>
            <a:ext cx="10839450" cy="2308621"/>
          </a:xfrm>
          <a:prstGeom prst="rect">
            <a:avLst/>
          </a:prstGeom>
          <a:noFill/>
          <a:ln>
            <a:noFill/>
          </a:ln>
        </p:spPr>
      </p:pic>
      <p:pic>
        <p:nvPicPr>
          <p:cNvPr id="415" name="Google Shape;415;p33" descr="image.png"/>
          <p:cNvPicPr preferRelativeResize="0"/>
          <p:nvPr/>
        </p:nvPicPr>
        <p:blipFill rotWithShape="1">
          <a:blip r:embed="rId5">
            <a:alphaModFix/>
          </a:blip>
          <a:srcRect/>
          <a:stretch/>
        </p:blipFill>
        <p:spPr>
          <a:xfrm>
            <a:off x="676275" y="5374630"/>
            <a:ext cx="10839450" cy="990600"/>
          </a:xfrm>
          <a:prstGeom prst="rect">
            <a:avLst/>
          </a:prstGeom>
          <a:noFill/>
          <a:ln>
            <a:noFill/>
          </a:ln>
        </p:spPr>
      </p:pic>
      <p:pic>
        <p:nvPicPr>
          <p:cNvPr id="416" name="Google Shape;416;p33" descr="image.png"/>
          <p:cNvPicPr preferRelativeResize="0"/>
          <p:nvPr/>
        </p:nvPicPr>
        <p:blipFill rotWithShape="1">
          <a:blip r:embed="rId6">
            <a:alphaModFix/>
          </a:blip>
          <a:srcRect/>
          <a:stretch/>
        </p:blipFill>
        <p:spPr>
          <a:xfrm>
            <a:off x="676275" y="2062162"/>
            <a:ext cx="10839450" cy="622845"/>
          </a:xfrm>
          <a:prstGeom prst="rect">
            <a:avLst/>
          </a:prstGeom>
          <a:noFill/>
          <a:ln>
            <a:noFill/>
          </a:ln>
        </p:spPr>
      </p:pic>
      <p:sp>
        <p:nvSpPr>
          <p:cNvPr id="417" name="Google Shape;417;p33"/>
          <p:cNvSpPr txBox="1"/>
          <p:nvPr/>
        </p:nvSpPr>
        <p:spPr>
          <a:xfrm>
            <a:off x="1133475" y="485775"/>
            <a:ext cx="10382250"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Temel CBC-MAC Tasarımının Güvenlik Zafiyeti - Kısım 2</a:t>
            </a:r>
            <a:endParaRPr/>
          </a:p>
        </p:txBody>
      </p:sp>
      <p:sp>
        <p:nvSpPr>
          <p:cNvPr id="418" name="Google Shape;418;p33"/>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19" name="Google Shape;419;p33" descr="image.png"/>
          <p:cNvPicPr preferRelativeResize="0"/>
          <p:nvPr/>
        </p:nvPicPr>
        <p:blipFill rotWithShape="1">
          <a:blip r:embed="rId7">
            <a:alphaModFix/>
          </a:blip>
          <a:srcRect/>
          <a:stretch/>
        </p:blipFill>
        <p:spPr>
          <a:xfrm>
            <a:off x="676275" y="523875"/>
            <a:ext cx="314325" cy="361950"/>
          </a:xfrm>
          <a:prstGeom prst="rect">
            <a:avLst/>
          </a:prstGeom>
          <a:noFill/>
          <a:ln>
            <a:noFill/>
          </a:ln>
        </p:spPr>
      </p:pic>
      <p:sp>
        <p:nvSpPr>
          <p:cNvPr id="420" name="Google Shape;420;p33"/>
          <p:cNvSpPr txBox="1"/>
          <p:nvPr/>
        </p:nvSpPr>
        <p:spPr>
          <a:xfrm>
            <a:off x="676275" y="1314450"/>
            <a:ext cx="10839450" cy="604837"/>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1" i="0" u="none" strike="noStrike" cap="none">
                <a:solidFill>
                  <a:srgbClr val="475569"/>
                </a:solidFill>
                <a:latin typeface="Inter"/>
                <a:ea typeface="Inter"/>
                <a:cs typeface="Inter"/>
                <a:sym typeface="Inter"/>
              </a:rPr>
              <a:t>Sahtecilik Atak Senaryosu:</a:t>
            </a:r>
            <a:r>
              <a:rPr lang="en-US" sz="1425" b="0" i="0" u="none" strike="noStrike" cap="none">
                <a:solidFill>
                  <a:srgbClr val="475569"/>
                </a:solidFill>
                <a:latin typeface="Inter"/>
                <a:ea typeface="Inter"/>
                <a:cs typeface="Inter"/>
                <a:sym typeface="Inter"/>
              </a:rPr>
              <a:t> Saldırgan hattan tek bloklu meşru bir x1 mesajını ve buna ait t = ek(x1) etiketini ele geçirmiş olsun. Anahtarı bilmeyen saldırgan şu iki bloklu sahte mesajı oluşturur:</a:t>
            </a:r>
            <a:endParaRPr/>
          </a:p>
        </p:txBody>
      </p:sp>
      <p:sp>
        <p:nvSpPr>
          <p:cNvPr id="421" name="Google Shape;421;p33"/>
          <p:cNvSpPr txBox="1"/>
          <p:nvPr/>
        </p:nvSpPr>
        <p:spPr>
          <a:xfrm>
            <a:off x="676275" y="6448425"/>
            <a:ext cx="27633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422" name="Google Shape;422;p33"/>
          <p:cNvSpPr txBox="1"/>
          <p:nvPr/>
        </p:nvSpPr>
        <p:spPr>
          <a:xfrm>
            <a:off x="11010900" y="6448425"/>
            <a:ext cx="504825"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21</a:t>
            </a:r>
            <a:endParaRPr/>
          </a:p>
        </p:txBody>
      </p:sp>
      <p:sp>
        <p:nvSpPr>
          <p:cNvPr id="423" name="Google Shape;423;p33"/>
          <p:cNvSpPr txBox="1"/>
          <p:nvPr/>
        </p:nvSpPr>
        <p:spPr>
          <a:xfrm>
            <a:off x="942975" y="3132683"/>
            <a:ext cx="10881360"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Bob'un Sistemindeki Matematiksel Doğrulama Adımları:</a:t>
            </a:r>
            <a:endParaRPr/>
          </a:p>
        </p:txBody>
      </p:sp>
      <p:sp>
        <p:nvSpPr>
          <p:cNvPr id="424" name="Google Shape;424;p33"/>
          <p:cNvSpPr txBox="1"/>
          <p:nvPr/>
        </p:nvSpPr>
        <p:spPr>
          <a:xfrm>
            <a:off x="866775" y="5565130"/>
            <a:ext cx="10458450" cy="609600"/>
          </a:xfrm>
          <a:prstGeom prst="rect">
            <a:avLst/>
          </a:prstGeom>
          <a:noFill/>
          <a:ln>
            <a:noFill/>
          </a:ln>
        </p:spPr>
        <p:txBody>
          <a:bodyPr spcFirstLastPara="1" wrap="square" lIns="285750" tIns="0" rIns="0" bIns="0" anchor="t" anchorCtr="0">
            <a:spAutoFit/>
          </a:bodyPr>
          <a:lstStyle/>
          <a:p>
            <a:pPr marL="0" marR="0" lvl="0" indent="0" algn="ctr" rtl="0">
              <a:lnSpc>
                <a:spcPct val="160000"/>
              </a:lnSpc>
              <a:spcBef>
                <a:spcPts val="0"/>
              </a:spcBef>
              <a:spcAft>
                <a:spcPts val="0"/>
              </a:spcAft>
              <a:buNone/>
            </a:pPr>
            <a:r>
              <a:rPr lang="en-US" sz="1500" b="0" i="0" u="none" strike="noStrike" cap="none">
                <a:solidFill>
                  <a:srgbClr val="B91C1C"/>
                </a:solidFill>
                <a:latin typeface="Inter SemiBold"/>
                <a:ea typeface="Inter SemiBold"/>
                <a:cs typeface="Inter SemiBold"/>
                <a:sym typeface="Inter SemiBold"/>
              </a:rPr>
              <a:t>Kritik Analiz: Alıcı taraf sahte mesajı işlediğinde etiketlerin tam uyuştuğunu görür ve saldırganın enjekte ettiği paketi meşru kabul eder.</a:t>
            </a:r>
            <a:endParaRPr/>
          </a:p>
        </p:txBody>
      </p:sp>
      <p:sp>
        <p:nvSpPr>
          <p:cNvPr id="425" name="Google Shape;425;p33"/>
          <p:cNvSpPr txBox="1"/>
          <p:nvPr/>
        </p:nvSpPr>
        <p:spPr>
          <a:xfrm>
            <a:off x="1228725" y="3456533"/>
            <a:ext cx="10077450" cy="29616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Sistem ilk bloğu (x1) işler ve tanım gereği y1 = ek(x1) = t değerini bulur.</a:t>
            </a:r>
            <a:endParaRPr/>
          </a:p>
        </p:txBody>
      </p:sp>
      <p:sp>
        <p:nvSpPr>
          <p:cNvPr id="426" name="Google Shape;426;p33"/>
          <p:cNvSpPr txBox="1"/>
          <p:nvPr/>
        </p:nvSpPr>
        <p:spPr>
          <a:xfrm>
            <a:off x="1228725" y="3847951"/>
            <a:ext cx="10077450" cy="29616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Sistem ikinci bloğu işlerken formül gereği bir önceki çıktıyla XOR'lama yapar: ek((x1 ⊕ t) ⊕ y1)</a:t>
            </a:r>
            <a:endParaRPr/>
          </a:p>
        </p:txBody>
      </p:sp>
      <p:sp>
        <p:nvSpPr>
          <p:cNvPr id="427" name="Google Shape;427;p33"/>
          <p:cNvSpPr txBox="1"/>
          <p:nvPr/>
        </p:nvSpPr>
        <p:spPr>
          <a:xfrm>
            <a:off x="1228725" y="4239369"/>
            <a:ext cx="10077450" cy="29616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Burada y1 değeri t'ye eşit olduğundan, parantez içi (x1 ⊕ t ⊕ t) halini alır. t ⊕ t birbirini götürür (0 olur).</a:t>
            </a:r>
            <a:endParaRPr/>
          </a:p>
        </p:txBody>
      </p:sp>
      <p:sp>
        <p:nvSpPr>
          <p:cNvPr id="428" name="Google Shape;428;p33"/>
          <p:cNvSpPr txBox="1"/>
          <p:nvPr/>
        </p:nvSpPr>
        <p:spPr>
          <a:xfrm>
            <a:off x="1228725" y="4630787"/>
            <a:ext cx="10077450" cy="296167"/>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İşlem sonucunda fonksiyon başa dönerek tekrar ek(x1) değerini, yani başlangıçtaki t etiketini hesaplar.</a:t>
            </a:r>
            <a:endParaRPr/>
          </a:p>
        </p:txBody>
      </p:sp>
      <p:pic>
        <p:nvPicPr>
          <p:cNvPr id="429" name="Google Shape;429;p33" descr="image.png"/>
          <p:cNvPicPr preferRelativeResize="0"/>
          <p:nvPr/>
        </p:nvPicPr>
        <p:blipFill rotWithShape="1">
          <a:blip r:embed="rId8">
            <a:alphaModFix/>
          </a:blip>
          <a:srcRect/>
          <a:stretch/>
        </p:blipFill>
        <p:spPr>
          <a:xfrm>
            <a:off x="976312" y="5622280"/>
            <a:ext cx="190500" cy="190500"/>
          </a:xfrm>
          <a:prstGeom prst="rect">
            <a:avLst/>
          </a:prstGeom>
          <a:noFill/>
          <a:ln>
            <a:noFill/>
          </a:ln>
        </p:spPr>
      </p:pic>
      <p:pic>
        <p:nvPicPr>
          <p:cNvPr id="430" name="Google Shape;430;p33" descr="image.png"/>
          <p:cNvPicPr preferRelativeResize="0"/>
          <p:nvPr/>
        </p:nvPicPr>
        <p:blipFill rotWithShape="1">
          <a:blip r:embed="rId9">
            <a:alphaModFix/>
          </a:blip>
          <a:srcRect/>
          <a:stretch/>
        </p:blipFill>
        <p:spPr>
          <a:xfrm>
            <a:off x="942975" y="3456533"/>
            <a:ext cx="171450" cy="180975"/>
          </a:xfrm>
          <a:prstGeom prst="rect">
            <a:avLst/>
          </a:prstGeom>
          <a:noFill/>
          <a:ln>
            <a:noFill/>
          </a:ln>
        </p:spPr>
      </p:pic>
      <p:pic>
        <p:nvPicPr>
          <p:cNvPr id="431" name="Google Shape;431;p33" descr="image.png"/>
          <p:cNvPicPr preferRelativeResize="0"/>
          <p:nvPr/>
        </p:nvPicPr>
        <p:blipFill rotWithShape="1">
          <a:blip r:embed="rId9">
            <a:alphaModFix/>
          </a:blip>
          <a:srcRect/>
          <a:stretch/>
        </p:blipFill>
        <p:spPr>
          <a:xfrm>
            <a:off x="942975" y="3847951"/>
            <a:ext cx="171450" cy="180975"/>
          </a:xfrm>
          <a:prstGeom prst="rect">
            <a:avLst/>
          </a:prstGeom>
          <a:noFill/>
          <a:ln>
            <a:noFill/>
          </a:ln>
        </p:spPr>
      </p:pic>
      <p:pic>
        <p:nvPicPr>
          <p:cNvPr id="432" name="Google Shape;432;p33" descr="image.png"/>
          <p:cNvPicPr preferRelativeResize="0"/>
          <p:nvPr/>
        </p:nvPicPr>
        <p:blipFill rotWithShape="1">
          <a:blip r:embed="rId9">
            <a:alphaModFix/>
          </a:blip>
          <a:srcRect/>
          <a:stretch/>
        </p:blipFill>
        <p:spPr>
          <a:xfrm>
            <a:off x="942975" y="4239369"/>
            <a:ext cx="171450" cy="180975"/>
          </a:xfrm>
          <a:prstGeom prst="rect">
            <a:avLst/>
          </a:prstGeom>
          <a:noFill/>
          <a:ln>
            <a:noFill/>
          </a:ln>
        </p:spPr>
      </p:pic>
      <p:pic>
        <p:nvPicPr>
          <p:cNvPr id="433" name="Google Shape;433;p33" descr="image.png"/>
          <p:cNvPicPr preferRelativeResize="0"/>
          <p:nvPr/>
        </p:nvPicPr>
        <p:blipFill rotWithShape="1">
          <a:blip r:embed="rId9">
            <a:alphaModFix/>
          </a:blip>
          <a:srcRect/>
          <a:stretch/>
        </p:blipFill>
        <p:spPr>
          <a:xfrm>
            <a:off x="942975" y="4630787"/>
            <a:ext cx="171450" cy="18097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37"/>
        <p:cNvGrpSpPr/>
        <p:nvPr/>
      </p:nvGrpSpPr>
      <p:grpSpPr>
        <a:xfrm>
          <a:off x="0" y="0"/>
          <a:ext cx="0" cy="0"/>
          <a:chOff x="0" y="0"/>
          <a:chExt cx="0" cy="0"/>
        </a:xfrm>
      </p:grpSpPr>
      <p:pic>
        <p:nvPicPr>
          <p:cNvPr id="438" name="Google Shape;438;p34"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439" name="Google Shape;439;p34" descr="image.png"/>
          <p:cNvPicPr preferRelativeResize="0"/>
          <p:nvPr/>
        </p:nvPicPr>
        <p:blipFill rotWithShape="1">
          <a:blip r:embed="rId4">
            <a:alphaModFix/>
          </a:blip>
          <a:srcRect/>
          <a:stretch/>
        </p:blipFill>
        <p:spPr>
          <a:xfrm>
            <a:off x="676275" y="2083891"/>
            <a:ext cx="5229225" cy="3622030"/>
          </a:xfrm>
          <a:prstGeom prst="rect">
            <a:avLst/>
          </a:prstGeom>
          <a:noFill/>
          <a:ln>
            <a:noFill/>
          </a:ln>
        </p:spPr>
      </p:pic>
      <p:sp>
        <p:nvSpPr>
          <p:cNvPr id="440" name="Google Shape;440;p34"/>
          <p:cNvSpPr txBox="1"/>
          <p:nvPr/>
        </p:nvSpPr>
        <p:spPr>
          <a:xfrm>
            <a:off x="1181100" y="485775"/>
            <a:ext cx="10626300" cy="4386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Blok Şifre Güvencesi: CMAC (Cipher-based MAC) Tasarımı</a:t>
            </a:r>
            <a:endParaRPr/>
          </a:p>
        </p:txBody>
      </p:sp>
      <p:sp>
        <p:nvSpPr>
          <p:cNvPr id="441" name="Google Shape;441;p34"/>
          <p:cNvSpPr/>
          <p:nvPr/>
        </p:nvSpPr>
        <p:spPr>
          <a:xfrm>
            <a:off x="676275" y="1038225"/>
            <a:ext cx="1083960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42" name="Google Shape;442;p34" descr="image.png"/>
          <p:cNvPicPr preferRelativeResize="0"/>
          <p:nvPr/>
        </p:nvPicPr>
        <p:blipFill rotWithShape="1">
          <a:blip r:embed="rId5">
            <a:alphaModFix/>
          </a:blip>
          <a:srcRect/>
          <a:stretch/>
        </p:blipFill>
        <p:spPr>
          <a:xfrm>
            <a:off x="676275" y="523875"/>
            <a:ext cx="361950" cy="361950"/>
          </a:xfrm>
          <a:prstGeom prst="rect">
            <a:avLst/>
          </a:prstGeom>
          <a:noFill/>
          <a:ln>
            <a:noFill/>
          </a:ln>
        </p:spPr>
      </p:pic>
      <p:sp>
        <p:nvSpPr>
          <p:cNvPr id="443" name="Google Shape;443;p34"/>
          <p:cNvSpPr txBox="1"/>
          <p:nvPr/>
        </p:nvSpPr>
        <p:spPr>
          <a:xfrm>
            <a:off x="676275" y="1314450"/>
            <a:ext cx="10839600" cy="57900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Yalın CBC-MAC'in değişken uzunluklu mesajlarda verdiği zafiyeti kökten çözmek adına geliştirilen ve NIST SP 800-38B standartlarına bağlanan modern yöntem </a:t>
            </a:r>
            <a:r>
              <a:rPr lang="en-US" sz="1425" b="1" i="0" u="none" strike="noStrike" cap="none">
                <a:solidFill>
                  <a:srgbClr val="475569"/>
                </a:solidFill>
                <a:latin typeface="Inter"/>
                <a:ea typeface="Inter"/>
                <a:cs typeface="Inter"/>
                <a:sym typeface="Inter"/>
              </a:rPr>
              <a:t>CMAC</a:t>
            </a:r>
            <a:r>
              <a:rPr lang="en-US" sz="1425" b="0" i="0" u="none" strike="noStrike" cap="none">
                <a:solidFill>
                  <a:srgbClr val="475569"/>
                </a:solidFill>
                <a:latin typeface="Inter"/>
                <a:ea typeface="Inter"/>
                <a:cs typeface="Inter"/>
                <a:sym typeface="Inter"/>
              </a:rPr>
              <a:t> mimarisidir.</a:t>
            </a:r>
            <a:endParaRPr/>
          </a:p>
        </p:txBody>
      </p:sp>
      <p:sp>
        <p:nvSpPr>
          <p:cNvPr id="444" name="Google Shape;444;p34"/>
          <p:cNvSpPr txBox="1"/>
          <p:nvPr/>
        </p:nvSpPr>
        <p:spPr>
          <a:xfrm>
            <a:off x="676275" y="6448425"/>
            <a:ext cx="28008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445" name="Google Shape;445;p34"/>
          <p:cNvSpPr txBox="1"/>
          <p:nvPr/>
        </p:nvSpPr>
        <p:spPr>
          <a:xfrm>
            <a:off x="10982325" y="6448425"/>
            <a:ext cx="533400" cy="1619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94A3B8"/>
                </a:solidFill>
                <a:latin typeface="Inter Medium"/>
                <a:ea typeface="Inter Medium"/>
                <a:cs typeface="Inter Medium"/>
                <a:sym typeface="Inter Medium"/>
              </a:rPr>
              <a:t>Slayt 22</a:t>
            </a:r>
            <a:endParaRPr/>
          </a:p>
        </p:txBody>
      </p:sp>
      <p:sp>
        <p:nvSpPr>
          <p:cNvPr id="446" name="Google Shape;446;p34"/>
          <p:cNvSpPr txBox="1"/>
          <p:nvPr/>
        </p:nvSpPr>
        <p:spPr>
          <a:xfrm>
            <a:off x="942975" y="2293441"/>
            <a:ext cx="499062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Alt Anahtar (Subkey) Entegrasyonu:</a:t>
            </a:r>
            <a:endParaRPr/>
          </a:p>
        </p:txBody>
      </p:sp>
      <p:sp>
        <p:nvSpPr>
          <p:cNvPr id="447" name="Google Shape;447;p34"/>
          <p:cNvSpPr txBox="1"/>
          <p:nvPr/>
        </p:nvSpPr>
        <p:spPr>
          <a:xfrm>
            <a:off x="942975" y="2617291"/>
            <a:ext cx="4752900" cy="89430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CMAC, ana gizli anahtar k parametresini kullanarak türetilmiş iki adet bağımsız alt anahtar (K1 ve K2) mekanizması barındırır.</a:t>
            </a:r>
            <a:endParaRPr/>
          </a:p>
        </p:txBody>
      </p:sp>
      <p:sp>
        <p:nvSpPr>
          <p:cNvPr id="448" name="Google Shape;448;p34"/>
          <p:cNvSpPr txBox="1"/>
          <p:nvPr/>
        </p:nvSpPr>
        <p:spPr>
          <a:xfrm>
            <a:off x="6286500" y="2786508"/>
            <a:ext cx="5229225" cy="86841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Bu yöntem sayesinde, saldırganların ara blok çıktılarından yararlanarak kurguladığı matematiksel sadeleştirme ve birbirini yok etme simetrisi tamamen bozulmuş olur.</a:t>
            </a:r>
            <a:endParaRPr/>
          </a:p>
        </p:txBody>
      </p:sp>
      <p:sp>
        <p:nvSpPr>
          <p:cNvPr id="449" name="Google Shape;449;p34"/>
          <p:cNvSpPr txBox="1"/>
          <p:nvPr/>
        </p:nvSpPr>
        <p:spPr>
          <a:xfrm>
            <a:off x="6286500" y="3845421"/>
            <a:ext cx="5229300" cy="1158000"/>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475569"/>
                </a:solidFill>
                <a:latin typeface="Inter"/>
                <a:ea typeface="Inter"/>
                <a:cs typeface="Inter"/>
                <a:sym typeface="Inter"/>
              </a:rPr>
              <a:t>CMAC, değişken uzunluktaki girdilerde dahi veri sonu bütünlüğünü tam olarak sağlayan, kriptografik sahtecilik (forgery) ataklarına karşı matematiksel direnci kanıtlanmış güvenli bir blok şifre türevidir.</a:t>
            </a:r>
            <a:endParaRPr/>
          </a:p>
        </p:txBody>
      </p:sp>
      <p:sp>
        <p:nvSpPr>
          <p:cNvPr id="450" name="Google Shape;450;p34"/>
          <p:cNvSpPr txBox="1"/>
          <p:nvPr/>
        </p:nvSpPr>
        <p:spPr>
          <a:xfrm>
            <a:off x="1228725" y="3606849"/>
            <a:ext cx="4467225" cy="84951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334155"/>
                </a:solidFill>
                <a:latin typeface="Inter"/>
                <a:ea typeface="Inter"/>
                <a:cs typeface="Inter"/>
                <a:sym typeface="Inter"/>
              </a:rPr>
              <a:t>K1 Kullanımı:</a:t>
            </a:r>
            <a:r>
              <a:rPr lang="en-US" sz="1350" b="0" i="0" u="none" strike="noStrike" cap="none">
                <a:solidFill>
                  <a:srgbClr val="334155"/>
                </a:solidFill>
                <a:latin typeface="Inter"/>
                <a:ea typeface="Inter"/>
                <a:cs typeface="Inter"/>
                <a:sym typeface="Inter"/>
              </a:rPr>
              <a:t> Eğer iletilen orijinal mesaj blok sınırlarına tam olarak sığıyorsa, son blok şifrelenmeden hemen önce K1 ile XOR'lanır.</a:t>
            </a:r>
            <a:endParaRPr/>
          </a:p>
        </p:txBody>
      </p:sp>
      <p:sp>
        <p:nvSpPr>
          <p:cNvPr id="451" name="Google Shape;451;p34"/>
          <p:cNvSpPr txBox="1"/>
          <p:nvPr/>
        </p:nvSpPr>
        <p:spPr>
          <a:xfrm>
            <a:off x="1228725" y="4551610"/>
            <a:ext cx="4467225" cy="849510"/>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334155"/>
                </a:solidFill>
                <a:latin typeface="Inter"/>
                <a:ea typeface="Inter"/>
                <a:cs typeface="Inter"/>
                <a:sym typeface="Inter"/>
              </a:rPr>
              <a:t>K2 Kullanımı:</a:t>
            </a:r>
            <a:r>
              <a:rPr lang="en-US" sz="1350" b="0" i="0" u="none" strike="noStrike" cap="none">
                <a:solidFill>
                  <a:srgbClr val="334155"/>
                </a:solidFill>
                <a:latin typeface="Inter"/>
                <a:ea typeface="Inter"/>
                <a:cs typeface="Inter"/>
                <a:sym typeface="Inter"/>
              </a:rPr>
              <a:t> Eğer mesaj blok sınırına uymayıp dolgu blokları içeriyorsa, son blok şifrelenmeden önce K2 ile XOR işlemine sokulur.</a:t>
            </a:r>
            <a:endParaRPr/>
          </a:p>
        </p:txBody>
      </p:sp>
      <p:pic>
        <p:nvPicPr>
          <p:cNvPr id="452" name="Google Shape;452;p34" descr="image.png"/>
          <p:cNvPicPr preferRelativeResize="0"/>
          <p:nvPr/>
        </p:nvPicPr>
        <p:blipFill rotWithShape="1">
          <a:blip r:embed="rId6">
            <a:alphaModFix/>
          </a:blip>
          <a:srcRect/>
          <a:stretch/>
        </p:blipFill>
        <p:spPr>
          <a:xfrm>
            <a:off x="942975" y="3606849"/>
            <a:ext cx="171450" cy="180975"/>
          </a:xfrm>
          <a:prstGeom prst="rect">
            <a:avLst/>
          </a:prstGeom>
          <a:noFill/>
          <a:ln>
            <a:noFill/>
          </a:ln>
        </p:spPr>
      </p:pic>
      <p:pic>
        <p:nvPicPr>
          <p:cNvPr id="453" name="Google Shape;453;p34" descr="image.png"/>
          <p:cNvPicPr preferRelativeResize="0"/>
          <p:nvPr/>
        </p:nvPicPr>
        <p:blipFill rotWithShape="1">
          <a:blip r:embed="rId6">
            <a:alphaModFix/>
          </a:blip>
          <a:srcRect/>
          <a:stretch/>
        </p:blipFill>
        <p:spPr>
          <a:xfrm>
            <a:off x="942975" y="4551610"/>
            <a:ext cx="171450" cy="1809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57"/>
        <p:cNvGrpSpPr/>
        <p:nvPr/>
      </p:nvGrpSpPr>
      <p:grpSpPr>
        <a:xfrm>
          <a:off x="0" y="0"/>
          <a:ext cx="0" cy="0"/>
          <a:chOff x="0" y="0"/>
          <a:chExt cx="0" cy="0"/>
        </a:xfrm>
      </p:grpSpPr>
      <p:pic>
        <p:nvPicPr>
          <p:cNvPr id="458" name="Google Shape;458;p35" descr="image.png"/>
          <p:cNvPicPr preferRelativeResize="0"/>
          <p:nvPr/>
        </p:nvPicPr>
        <p:blipFill rotWithShape="1">
          <a:blip r:embed="rId3">
            <a:alphaModFix/>
          </a:blip>
          <a:srcRect/>
          <a:stretch/>
        </p:blipFill>
        <p:spPr>
          <a:xfrm>
            <a:off x="676275" y="6296025"/>
            <a:ext cx="10839450" cy="314325"/>
          </a:xfrm>
          <a:prstGeom prst="rect">
            <a:avLst/>
          </a:prstGeom>
          <a:noFill/>
          <a:ln>
            <a:noFill/>
          </a:ln>
        </p:spPr>
      </p:pic>
      <p:pic>
        <p:nvPicPr>
          <p:cNvPr id="459" name="Google Shape;459;p35" descr="image.png"/>
          <p:cNvPicPr preferRelativeResize="0"/>
          <p:nvPr/>
        </p:nvPicPr>
        <p:blipFill rotWithShape="1">
          <a:blip r:embed="rId4">
            <a:alphaModFix/>
          </a:blip>
          <a:srcRect/>
          <a:stretch/>
        </p:blipFill>
        <p:spPr>
          <a:xfrm>
            <a:off x="6286500" y="1314450"/>
            <a:ext cx="5229225" cy="2600325"/>
          </a:xfrm>
          <a:prstGeom prst="rect">
            <a:avLst/>
          </a:prstGeom>
          <a:noFill/>
          <a:ln>
            <a:noFill/>
          </a:ln>
        </p:spPr>
      </p:pic>
      <p:sp>
        <p:nvSpPr>
          <p:cNvPr id="460" name="Google Shape;460;p35"/>
          <p:cNvSpPr txBox="1"/>
          <p:nvPr/>
        </p:nvSpPr>
        <p:spPr>
          <a:xfrm>
            <a:off x="1276350" y="485775"/>
            <a:ext cx="10239375" cy="4762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850" b="0" i="0" u="none" strike="noStrike" cap="none">
                <a:solidFill>
                  <a:srgbClr val="0F172A"/>
                </a:solidFill>
                <a:latin typeface="Inter ExtraBold"/>
                <a:ea typeface="Inter ExtraBold"/>
                <a:cs typeface="Inter ExtraBold"/>
                <a:sym typeface="Inter ExtraBold"/>
              </a:rPr>
              <a:t>Sunum Özeti ve Temel Kriptografik İlkeler</a:t>
            </a:r>
            <a:endParaRPr/>
          </a:p>
        </p:txBody>
      </p:sp>
      <p:sp>
        <p:nvSpPr>
          <p:cNvPr id="461" name="Google Shape;461;p35"/>
          <p:cNvSpPr/>
          <p:nvPr/>
        </p:nvSpPr>
        <p:spPr>
          <a:xfrm>
            <a:off x="676275" y="1038225"/>
            <a:ext cx="10839450" cy="38100"/>
          </a:xfrm>
          <a:prstGeom prst="rect">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62" name="Google Shape;462;p35" descr="image.png"/>
          <p:cNvPicPr preferRelativeResize="0"/>
          <p:nvPr/>
        </p:nvPicPr>
        <p:blipFill rotWithShape="1">
          <a:blip r:embed="rId5">
            <a:alphaModFix/>
          </a:blip>
          <a:srcRect/>
          <a:stretch/>
        </p:blipFill>
        <p:spPr>
          <a:xfrm>
            <a:off x="676275" y="523875"/>
            <a:ext cx="457200" cy="361950"/>
          </a:xfrm>
          <a:prstGeom prst="rect">
            <a:avLst/>
          </a:prstGeom>
          <a:noFill/>
          <a:ln>
            <a:noFill/>
          </a:ln>
        </p:spPr>
      </p:pic>
      <p:sp>
        <p:nvSpPr>
          <p:cNvPr id="463" name="Google Shape;463;p35"/>
          <p:cNvSpPr txBox="1"/>
          <p:nvPr/>
        </p:nvSpPr>
        <p:spPr>
          <a:xfrm>
            <a:off x="676275" y="6448425"/>
            <a:ext cx="2146500" cy="323100"/>
          </a:xfrm>
          <a:prstGeom prst="rect">
            <a:avLst/>
          </a:prstGeom>
          <a:noFill/>
          <a:ln>
            <a:noFill/>
          </a:ln>
        </p:spPr>
        <p:txBody>
          <a:bodyPr spcFirstLastPara="1" wrap="square" lIns="0" tIns="0" rIns="0" bIns="0" anchor="t" anchorCtr="0">
            <a:spAutoFit/>
          </a:bodyPr>
          <a:lstStyle/>
          <a:p>
            <a:pPr marL="0" lvl="0" indent="0" algn="l" rtl="0">
              <a:spcBef>
                <a:spcPts val="0"/>
              </a:spcBef>
              <a:spcAft>
                <a:spcPts val="0"/>
              </a:spcAft>
              <a:buClr>
                <a:schemeClr val="dk1"/>
              </a:buClr>
              <a:buFont typeface="Arial"/>
              <a:buNone/>
            </a:pPr>
            <a:r>
              <a:rPr lang="en-US" sz="1050">
                <a:solidFill>
                  <a:srgbClr val="94A3B8"/>
                </a:solidFill>
                <a:latin typeface="Inter Medium"/>
                <a:ea typeface="Inter Medium"/>
                <a:cs typeface="Inter Medium"/>
                <a:sym typeface="Inter Medium"/>
              </a:rPr>
              <a:t>Bilgi Güvenliği ve Kriptografi</a:t>
            </a:r>
            <a:endParaRPr>
              <a:solidFill>
                <a:schemeClr val="dk1"/>
              </a:solidFill>
            </a:endParaRPr>
          </a:p>
          <a:p>
            <a:pPr marL="0" marR="0" lvl="0" indent="0" algn="l" rtl="0">
              <a:spcBef>
                <a:spcPts val="0"/>
              </a:spcBef>
              <a:spcAft>
                <a:spcPts val="0"/>
              </a:spcAft>
              <a:buNone/>
            </a:pPr>
            <a:endParaRPr sz="1050">
              <a:solidFill>
                <a:srgbClr val="94A3B8"/>
              </a:solidFill>
              <a:latin typeface="Inter Medium"/>
              <a:ea typeface="Inter Medium"/>
              <a:cs typeface="Inter Medium"/>
              <a:sym typeface="Inter Medium"/>
            </a:endParaRPr>
          </a:p>
        </p:txBody>
      </p:sp>
      <p:sp>
        <p:nvSpPr>
          <p:cNvPr id="464" name="Google Shape;464;p35"/>
          <p:cNvSpPr txBox="1"/>
          <p:nvPr/>
        </p:nvSpPr>
        <p:spPr>
          <a:xfrm>
            <a:off x="10734675" y="6448425"/>
            <a:ext cx="781050" cy="161925"/>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n-US" sz="1050" b="0" i="0" u="none" strike="noStrike" cap="none" dirty="0">
                <a:solidFill>
                  <a:srgbClr val="94A3B8"/>
                </a:solidFill>
                <a:latin typeface="Inter Medium"/>
                <a:ea typeface="Inter Medium"/>
                <a:cs typeface="Inter Medium"/>
                <a:sym typeface="Inter Medium"/>
              </a:rPr>
              <a:t>S</a:t>
            </a:r>
            <a:r>
              <a:rPr lang="tr-TR" sz="1050" dirty="0" err="1">
                <a:solidFill>
                  <a:srgbClr val="94A3B8"/>
                </a:solidFill>
                <a:latin typeface="Inter Medium"/>
                <a:ea typeface="Inter Medium"/>
                <a:cs typeface="Inter Medium"/>
                <a:sym typeface="Inter Medium"/>
              </a:rPr>
              <a:t>layt</a:t>
            </a:r>
            <a:r>
              <a:rPr lang="tr-TR" sz="1050" b="0" i="0" u="none" strike="noStrike" cap="none" dirty="0">
                <a:solidFill>
                  <a:srgbClr val="94A3B8"/>
                </a:solidFill>
                <a:latin typeface="Inter Medium"/>
                <a:ea typeface="Inter Medium"/>
                <a:cs typeface="Inter Medium"/>
                <a:sym typeface="Inter Medium"/>
              </a:rPr>
              <a:t> 23</a:t>
            </a:r>
            <a:endParaRPr dirty="0"/>
          </a:p>
        </p:txBody>
      </p:sp>
      <p:sp>
        <p:nvSpPr>
          <p:cNvPr id="465" name="Google Shape;465;p35"/>
          <p:cNvSpPr txBox="1"/>
          <p:nvPr/>
        </p:nvSpPr>
        <p:spPr>
          <a:xfrm>
            <a:off x="962025" y="1314450"/>
            <a:ext cx="4943475"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334155"/>
                </a:solidFill>
                <a:latin typeface="Inter"/>
                <a:ea typeface="Inter"/>
                <a:cs typeface="Inter"/>
                <a:sym typeface="Inter"/>
              </a:rPr>
              <a:t>Güvenlik Ayrımı:</a:t>
            </a:r>
            <a:r>
              <a:rPr lang="en-US" sz="1350" b="0" i="0" u="none" strike="noStrike" cap="none">
                <a:solidFill>
                  <a:srgbClr val="334155"/>
                </a:solidFill>
                <a:latin typeface="Inter"/>
                <a:ea typeface="Inter"/>
                <a:cs typeface="Inter"/>
                <a:sym typeface="Inter"/>
              </a:rPr>
              <a:t> Şifreleme gizliliği korur, MAC ise bütünlüğü ve kaynağı doğrular. Birbirlerinin yerine veya tek başlarına güvenlik mimarisi oluşturamazlar.</a:t>
            </a:r>
            <a:endParaRPr/>
          </a:p>
        </p:txBody>
      </p:sp>
      <p:sp>
        <p:nvSpPr>
          <p:cNvPr id="466" name="Google Shape;466;p35"/>
          <p:cNvSpPr txBox="1"/>
          <p:nvPr/>
        </p:nvSpPr>
        <p:spPr>
          <a:xfrm>
            <a:off x="962025" y="2181225"/>
            <a:ext cx="4943475"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334155"/>
                </a:solidFill>
                <a:latin typeface="Inter"/>
                <a:ea typeface="Inter"/>
                <a:cs typeface="Inter"/>
                <a:sym typeface="Inter"/>
              </a:rPr>
              <a:t>Tasarım Tehlikeleri:</a:t>
            </a:r>
            <a:r>
              <a:rPr lang="en-US" sz="1350" b="0" i="0" u="none" strike="noStrike" cap="none">
                <a:solidFill>
                  <a:srgbClr val="334155"/>
                </a:solidFill>
                <a:latin typeface="Inter"/>
                <a:ea typeface="Inter"/>
                <a:cs typeface="Inter"/>
                <a:sym typeface="Inter"/>
              </a:rPr>
              <a:t> Basit birleştirme yöntemleri (önek/sonek) gizli parametreleri dış dünyaya sızdıran yapısal açıklara (Uzunluk Uzatma Saldırıları) gebedir.</a:t>
            </a:r>
            <a:endParaRPr/>
          </a:p>
        </p:txBody>
      </p:sp>
      <p:sp>
        <p:nvSpPr>
          <p:cNvPr id="467" name="Google Shape;467;p35"/>
          <p:cNvSpPr txBox="1"/>
          <p:nvPr/>
        </p:nvSpPr>
        <p:spPr>
          <a:xfrm>
            <a:off x="962025" y="3048000"/>
            <a:ext cx="4943475" cy="771525"/>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334155"/>
                </a:solidFill>
                <a:latin typeface="Inter"/>
                <a:ea typeface="Inter"/>
                <a:cs typeface="Inter"/>
                <a:sym typeface="Inter"/>
              </a:rPr>
              <a:t>Endüstriyel Standartlar:</a:t>
            </a:r>
            <a:r>
              <a:rPr lang="en-US" sz="1350" b="0" i="0" u="none" strike="noStrike" cap="none">
                <a:solidFill>
                  <a:srgbClr val="334155"/>
                </a:solidFill>
                <a:latin typeface="Inter"/>
                <a:ea typeface="Inter"/>
                <a:cs typeface="Inter"/>
                <a:sym typeface="Inter"/>
              </a:rPr>
              <a:t> Güvenli bir bütünlük kontrolü için hash tabanlı sistemlerde </a:t>
            </a:r>
            <a:r>
              <a:rPr lang="en-US" sz="1350" b="1" i="0" u="none" strike="noStrike" cap="none">
                <a:solidFill>
                  <a:srgbClr val="334155"/>
                </a:solidFill>
                <a:latin typeface="Inter"/>
                <a:ea typeface="Inter"/>
                <a:cs typeface="Inter"/>
                <a:sym typeface="Inter"/>
              </a:rPr>
              <a:t>HMAC</a:t>
            </a:r>
            <a:r>
              <a:rPr lang="en-US" sz="1350" b="0" i="0" u="none" strike="noStrike" cap="none">
                <a:solidFill>
                  <a:srgbClr val="334155"/>
                </a:solidFill>
                <a:latin typeface="Inter"/>
                <a:ea typeface="Inter"/>
                <a:cs typeface="Inter"/>
                <a:sym typeface="Inter"/>
              </a:rPr>
              <a:t>, blok şifre tabanlı yapılarda ise </a:t>
            </a:r>
            <a:r>
              <a:rPr lang="en-US" sz="1350" b="1" i="0" u="none" strike="noStrike" cap="none">
                <a:solidFill>
                  <a:srgbClr val="334155"/>
                </a:solidFill>
                <a:latin typeface="Inter"/>
                <a:ea typeface="Inter"/>
                <a:cs typeface="Inter"/>
                <a:sym typeface="Inter"/>
              </a:rPr>
              <a:t>CMAC</a:t>
            </a:r>
            <a:r>
              <a:rPr lang="en-US" sz="1350" b="0" i="0" u="none" strike="noStrike" cap="none">
                <a:solidFill>
                  <a:srgbClr val="334155"/>
                </a:solidFill>
                <a:latin typeface="Inter"/>
                <a:ea typeface="Inter"/>
                <a:cs typeface="Inter"/>
                <a:sym typeface="Inter"/>
              </a:rPr>
              <a:t> algoritmaları kayıtsız şartsız uygulanmalıdır.</a:t>
            </a:r>
            <a:endParaRPr/>
          </a:p>
        </p:txBody>
      </p:sp>
      <p:sp>
        <p:nvSpPr>
          <p:cNvPr id="468" name="Google Shape;468;p35"/>
          <p:cNvSpPr txBox="1"/>
          <p:nvPr/>
        </p:nvSpPr>
        <p:spPr>
          <a:xfrm>
            <a:off x="6553200" y="1524000"/>
            <a:ext cx="4990623" cy="228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0D9488"/>
                </a:solidFill>
                <a:latin typeface="Inter"/>
                <a:ea typeface="Inter"/>
                <a:cs typeface="Inter"/>
                <a:sym typeface="Inter"/>
              </a:rPr>
              <a:t>Olası Tartışma Soruları İçin Notlar:</a:t>
            </a:r>
            <a:endParaRPr/>
          </a:p>
        </p:txBody>
      </p:sp>
      <p:sp>
        <p:nvSpPr>
          <p:cNvPr id="469" name="Google Shape;469;p35"/>
          <p:cNvSpPr txBox="1"/>
          <p:nvPr/>
        </p:nvSpPr>
        <p:spPr>
          <a:xfrm>
            <a:off x="6553200" y="1847850"/>
            <a:ext cx="4752975" cy="48756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1" i="0" u="none" strike="noStrike" cap="none">
                <a:solidFill>
                  <a:srgbClr val="475569"/>
                </a:solidFill>
                <a:latin typeface="Inter"/>
                <a:ea typeface="Inter"/>
                <a:cs typeface="Inter"/>
                <a:sym typeface="Inter"/>
              </a:rPr>
              <a:t>Soru:</a:t>
            </a:r>
            <a:r>
              <a:rPr lang="en-US" sz="1200" b="0" i="0" u="none" strike="noStrike" cap="none">
                <a:solidFill>
                  <a:srgbClr val="475569"/>
                </a:solidFill>
                <a:latin typeface="Inter"/>
                <a:ea typeface="Inter"/>
                <a:cs typeface="Inter"/>
                <a:sym typeface="Inter"/>
              </a:rPr>
              <a:t> HMAC yerine SHA-3 kullanılırsa Uzunluk Uzatma Saldırısı riski kalır mı?</a:t>
            </a:r>
            <a:endParaRPr/>
          </a:p>
        </p:txBody>
      </p:sp>
      <p:sp>
        <p:nvSpPr>
          <p:cNvPr id="470" name="Google Shape;470;p35"/>
          <p:cNvSpPr txBox="1"/>
          <p:nvPr/>
        </p:nvSpPr>
        <p:spPr>
          <a:xfrm>
            <a:off x="6553200" y="2335410"/>
            <a:ext cx="4752975" cy="6858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125" b="1" i="0" u="none" strike="noStrike" cap="none" dirty="0" err="1">
                <a:solidFill>
                  <a:srgbClr val="475569"/>
                </a:solidFill>
                <a:latin typeface="Inter"/>
                <a:ea typeface="Inter"/>
                <a:cs typeface="Inter"/>
                <a:sym typeface="Inter"/>
              </a:rPr>
              <a:t>Cevap</a:t>
            </a:r>
            <a:r>
              <a:rPr lang="en-US" sz="1125" b="1" i="0" u="none" strike="noStrike" cap="none" dirty="0">
                <a:solidFill>
                  <a:srgbClr val="475569"/>
                </a:solidFill>
                <a:latin typeface="Inter"/>
                <a:ea typeface="Inter"/>
                <a:cs typeface="Inter"/>
                <a:sym typeface="Inter"/>
              </a:rPr>
              <a:t>:</a:t>
            </a:r>
            <a:r>
              <a:rPr lang="en-US" sz="1125" b="0" i="0" u="none" strike="noStrike" cap="none" dirty="0">
                <a:solidFill>
                  <a:srgbClr val="475569"/>
                </a:solidFill>
                <a:latin typeface="Inter"/>
                <a:ea typeface="Inter"/>
                <a:cs typeface="Inter"/>
                <a:sym typeface="Inter"/>
              </a:rPr>
              <a:t> SHA-3 (Keccak) </a:t>
            </a:r>
            <a:r>
              <a:rPr lang="en-US" sz="1125" b="0" i="0" u="none" strike="noStrike" cap="none" dirty="0" err="1">
                <a:solidFill>
                  <a:srgbClr val="475569"/>
                </a:solidFill>
                <a:latin typeface="Inter"/>
                <a:ea typeface="Inter"/>
                <a:cs typeface="Inter"/>
                <a:sym typeface="Inter"/>
              </a:rPr>
              <a:t>sünger</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yapısı</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kullandığı</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için</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bu</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atağa</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dirençlidir</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ancak</a:t>
            </a:r>
            <a:r>
              <a:rPr lang="en-US" sz="1125" b="0" i="0" u="none" strike="noStrike" cap="none" dirty="0">
                <a:solidFill>
                  <a:srgbClr val="475569"/>
                </a:solidFill>
                <a:latin typeface="Inter"/>
                <a:ea typeface="Inter"/>
                <a:cs typeface="Inter"/>
                <a:sym typeface="Inter"/>
              </a:rPr>
              <a:t> HMAC </a:t>
            </a:r>
            <a:r>
              <a:rPr lang="en-US" sz="1125" b="0" i="0" u="none" strike="noStrike" cap="none" dirty="0" err="1">
                <a:solidFill>
                  <a:srgbClr val="475569"/>
                </a:solidFill>
                <a:latin typeface="Inter"/>
                <a:ea typeface="Inter"/>
                <a:cs typeface="Inter"/>
                <a:sym typeface="Inter"/>
              </a:rPr>
              <a:t>standardı</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geriye</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dönük</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uyumluluk</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ve</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garanti</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için</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çift</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katman</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korumasını</a:t>
            </a:r>
            <a:r>
              <a:rPr lang="en-US" sz="1125" b="0" i="0" u="none" strike="noStrike" cap="none" dirty="0">
                <a:solidFill>
                  <a:srgbClr val="475569"/>
                </a:solidFill>
                <a:latin typeface="Inter"/>
                <a:ea typeface="Inter"/>
                <a:cs typeface="Inter"/>
                <a:sym typeface="Inter"/>
              </a:rPr>
              <a:t> </a:t>
            </a:r>
            <a:r>
              <a:rPr lang="en-US" sz="1125" b="0" i="0" u="none" strike="noStrike" cap="none" dirty="0" err="1">
                <a:solidFill>
                  <a:srgbClr val="475569"/>
                </a:solidFill>
                <a:latin typeface="Inter"/>
                <a:ea typeface="Inter"/>
                <a:cs typeface="Inter"/>
                <a:sym typeface="Inter"/>
              </a:rPr>
              <a:t>sürdürür</a:t>
            </a:r>
            <a:r>
              <a:rPr lang="en-US" sz="1125" b="0" i="0" u="none" strike="noStrike" cap="none" dirty="0">
                <a:solidFill>
                  <a:srgbClr val="475569"/>
                </a:solidFill>
                <a:latin typeface="Inter"/>
                <a:ea typeface="Inter"/>
                <a:cs typeface="Inter"/>
                <a:sym typeface="Inter"/>
              </a:rPr>
              <a:t>.</a:t>
            </a:r>
            <a:endParaRPr dirty="0"/>
          </a:p>
        </p:txBody>
      </p:sp>
      <p:pic>
        <p:nvPicPr>
          <p:cNvPr id="471" name="Google Shape;471;p35" descr="image.png"/>
          <p:cNvPicPr preferRelativeResize="0"/>
          <p:nvPr/>
        </p:nvPicPr>
        <p:blipFill rotWithShape="1">
          <a:blip r:embed="rId6">
            <a:alphaModFix/>
          </a:blip>
          <a:srcRect/>
          <a:stretch/>
        </p:blipFill>
        <p:spPr>
          <a:xfrm>
            <a:off x="676275" y="1314450"/>
            <a:ext cx="171450" cy="180975"/>
          </a:xfrm>
          <a:prstGeom prst="rect">
            <a:avLst/>
          </a:prstGeom>
          <a:noFill/>
          <a:ln>
            <a:noFill/>
          </a:ln>
        </p:spPr>
      </p:pic>
      <p:pic>
        <p:nvPicPr>
          <p:cNvPr id="472" name="Google Shape;472;p35" descr="image.png"/>
          <p:cNvPicPr preferRelativeResize="0"/>
          <p:nvPr/>
        </p:nvPicPr>
        <p:blipFill rotWithShape="1">
          <a:blip r:embed="rId6">
            <a:alphaModFix/>
          </a:blip>
          <a:srcRect/>
          <a:stretch/>
        </p:blipFill>
        <p:spPr>
          <a:xfrm>
            <a:off x="676275" y="2181225"/>
            <a:ext cx="171450" cy="180975"/>
          </a:xfrm>
          <a:prstGeom prst="rect">
            <a:avLst/>
          </a:prstGeom>
          <a:noFill/>
          <a:ln>
            <a:noFill/>
          </a:ln>
        </p:spPr>
      </p:pic>
      <p:pic>
        <p:nvPicPr>
          <p:cNvPr id="473" name="Google Shape;473;p35" descr="image.png"/>
          <p:cNvPicPr preferRelativeResize="0"/>
          <p:nvPr/>
        </p:nvPicPr>
        <p:blipFill rotWithShape="1">
          <a:blip r:embed="rId6">
            <a:alphaModFix/>
          </a:blip>
          <a:srcRect/>
          <a:stretch/>
        </p:blipFill>
        <p:spPr>
          <a:xfrm>
            <a:off x="676275" y="3048000"/>
            <a:ext cx="171450" cy="1809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74">
          <a:extLst>
            <a:ext uri="{FF2B5EF4-FFF2-40B4-BE49-F238E27FC236}">
              <a16:creationId xmlns:a16="http://schemas.microsoft.com/office/drawing/2014/main" id="{99D781B1-F186-BC68-7037-67C6E11F3362}"/>
            </a:ext>
          </a:extLst>
        </p:cNvPr>
        <p:cNvGrpSpPr/>
        <p:nvPr/>
      </p:nvGrpSpPr>
      <p:grpSpPr>
        <a:xfrm>
          <a:off x="0" y="0"/>
          <a:ext cx="0" cy="0"/>
          <a:chOff x="0" y="0"/>
          <a:chExt cx="0" cy="0"/>
        </a:xfrm>
      </p:grpSpPr>
      <p:sp>
        <p:nvSpPr>
          <p:cNvPr id="375" name="Google Shape;375;p30">
            <a:extLst>
              <a:ext uri="{FF2B5EF4-FFF2-40B4-BE49-F238E27FC236}">
                <a16:creationId xmlns:a16="http://schemas.microsoft.com/office/drawing/2014/main" id="{178C6EFF-2698-481B-F5C8-D240AE96D803}"/>
              </a:ext>
            </a:extLst>
          </p:cNvPr>
          <p:cNvSpPr txBox="1"/>
          <p:nvPr/>
        </p:nvSpPr>
        <p:spPr>
          <a:xfrm>
            <a:off x="3371929" y="1609706"/>
            <a:ext cx="5448142" cy="1107996"/>
          </a:xfrm>
          <a:prstGeom prst="rect">
            <a:avLst/>
          </a:prstGeom>
          <a:noFill/>
          <a:ln>
            <a:noFill/>
          </a:ln>
        </p:spPr>
        <p:txBody>
          <a:bodyPr spcFirstLastPara="1" wrap="square" lIns="0" tIns="0" rIns="0" bIns="0" anchor="t" anchorCtr="0">
            <a:spAutoFit/>
          </a:bodyPr>
          <a:lstStyle/>
          <a:p>
            <a:pPr lvl="0" algn="ctr"/>
            <a:r>
              <a:rPr lang="en-US" sz="3600" dirty="0" err="1">
                <a:solidFill>
                  <a:srgbClr val="FFFFFF"/>
                </a:solidFill>
                <a:latin typeface="Inter SemiBold"/>
                <a:ea typeface="Inter SemiBold"/>
                <a:cs typeface="Inter SemiBold"/>
                <a:sym typeface="Inter SemiBold"/>
              </a:rPr>
              <a:t>Dinlediğiniz</a:t>
            </a:r>
            <a:r>
              <a:rPr lang="en-US" sz="3600" dirty="0">
                <a:solidFill>
                  <a:srgbClr val="FFFFFF"/>
                </a:solidFill>
                <a:latin typeface="Inter SemiBold"/>
                <a:ea typeface="Inter SemiBold"/>
                <a:cs typeface="Inter SemiBold"/>
                <a:sym typeface="Inter SemiBold"/>
              </a:rPr>
              <a:t> </a:t>
            </a:r>
            <a:r>
              <a:rPr lang="en-US" sz="3600" dirty="0" err="1">
                <a:solidFill>
                  <a:srgbClr val="FFFFFF"/>
                </a:solidFill>
                <a:latin typeface="Inter SemiBold"/>
                <a:ea typeface="Inter SemiBold"/>
                <a:cs typeface="Inter SemiBold"/>
                <a:sym typeface="Inter SemiBold"/>
              </a:rPr>
              <a:t>İçin</a:t>
            </a:r>
            <a:r>
              <a:rPr lang="en-US" sz="3600" dirty="0">
                <a:solidFill>
                  <a:srgbClr val="FFFFFF"/>
                </a:solidFill>
                <a:latin typeface="Inter SemiBold"/>
                <a:ea typeface="Inter SemiBold"/>
                <a:cs typeface="Inter SemiBold"/>
                <a:sym typeface="Inter SemiBold"/>
              </a:rPr>
              <a:t> </a:t>
            </a:r>
            <a:r>
              <a:rPr lang="en-US" sz="3600" dirty="0" err="1">
                <a:solidFill>
                  <a:srgbClr val="FFFFFF"/>
                </a:solidFill>
                <a:latin typeface="Inter SemiBold"/>
                <a:ea typeface="Inter SemiBold"/>
                <a:cs typeface="Inter SemiBold"/>
                <a:sym typeface="Inter SemiBold"/>
              </a:rPr>
              <a:t>Teşekkürler</a:t>
            </a:r>
            <a:endParaRPr dirty="0"/>
          </a:p>
        </p:txBody>
      </p:sp>
      <p:sp>
        <p:nvSpPr>
          <p:cNvPr id="376" name="Google Shape;376;p30">
            <a:extLst>
              <a:ext uri="{FF2B5EF4-FFF2-40B4-BE49-F238E27FC236}">
                <a16:creationId xmlns:a16="http://schemas.microsoft.com/office/drawing/2014/main" id="{BB9A193F-D402-B482-D4F5-7D5EC3DF9AD4}"/>
              </a:ext>
            </a:extLst>
          </p:cNvPr>
          <p:cNvSpPr/>
          <p:nvPr/>
        </p:nvSpPr>
        <p:spPr>
          <a:xfrm>
            <a:off x="5127625" y="3064173"/>
            <a:ext cx="1936750" cy="72727"/>
          </a:xfrm>
          <a:prstGeom prst="roundRect">
            <a:avLst>
              <a:gd name="adj" fmla="val 40000"/>
            </a:avLst>
          </a:prstGeom>
          <a:solidFill>
            <a:srgbClr val="0D948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7" name="Google Shape;377;p30">
            <a:extLst>
              <a:ext uri="{FF2B5EF4-FFF2-40B4-BE49-F238E27FC236}">
                <a16:creationId xmlns:a16="http://schemas.microsoft.com/office/drawing/2014/main" id="{2EFE9C49-8526-8C7D-4702-53BEB7E5B910}"/>
              </a:ext>
            </a:extLst>
          </p:cNvPr>
          <p:cNvSpPr txBox="1"/>
          <p:nvPr/>
        </p:nvSpPr>
        <p:spPr>
          <a:xfrm>
            <a:off x="3267075" y="3429000"/>
            <a:ext cx="5657850" cy="203132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tr-TR" sz="1650" dirty="0">
                <a:solidFill>
                  <a:srgbClr val="38BDF8"/>
                </a:solidFill>
                <a:latin typeface="Inter"/>
                <a:ea typeface="Inter"/>
                <a:sym typeface="Inter"/>
              </a:rPr>
              <a:t>Ramazan Karatut</a:t>
            </a:r>
            <a:br>
              <a:rPr lang="tr-TR" sz="1650" dirty="0">
                <a:solidFill>
                  <a:srgbClr val="38BDF8"/>
                </a:solidFill>
                <a:latin typeface="Inter"/>
                <a:ea typeface="Inter"/>
                <a:sym typeface="Inter"/>
              </a:rPr>
            </a:br>
            <a:r>
              <a:rPr lang="tr-TR" sz="1650" dirty="0">
                <a:solidFill>
                  <a:srgbClr val="38BDF8"/>
                </a:solidFill>
                <a:latin typeface="Inter"/>
                <a:ea typeface="Inter"/>
                <a:sym typeface="Inter"/>
              </a:rPr>
              <a:t>Eyüp Can Şen</a:t>
            </a:r>
          </a:p>
          <a:p>
            <a:pPr marL="0" marR="0" lvl="0" indent="0" algn="ctr" rtl="0">
              <a:lnSpc>
                <a:spcPct val="160000"/>
              </a:lnSpc>
              <a:spcBef>
                <a:spcPts val="0"/>
              </a:spcBef>
              <a:spcAft>
                <a:spcPts val="0"/>
              </a:spcAft>
              <a:buNone/>
            </a:pPr>
            <a:endParaRPr lang="tr-TR" sz="1650" dirty="0">
              <a:solidFill>
                <a:srgbClr val="38BDF8"/>
              </a:solidFill>
              <a:latin typeface="Inter"/>
              <a:ea typeface="Inter"/>
              <a:sym typeface="Inter"/>
            </a:endParaRPr>
          </a:p>
          <a:p>
            <a:pPr marL="0" marR="0" lvl="0" indent="0" algn="ctr" rtl="0">
              <a:lnSpc>
                <a:spcPct val="160000"/>
              </a:lnSpc>
              <a:spcBef>
                <a:spcPts val="0"/>
              </a:spcBef>
              <a:spcAft>
                <a:spcPts val="0"/>
              </a:spcAft>
              <a:buNone/>
            </a:pPr>
            <a:endParaRPr lang="tr-TR" sz="1650" dirty="0">
              <a:solidFill>
                <a:srgbClr val="38BDF8"/>
              </a:solidFill>
              <a:latin typeface="Inter"/>
              <a:ea typeface="Inter"/>
              <a:sym typeface="Inter"/>
            </a:endParaRPr>
          </a:p>
          <a:p>
            <a:pPr marL="0" marR="0" lvl="0" indent="0" algn="ctr" rtl="0">
              <a:lnSpc>
                <a:spcPct val="160000"/>
              </a:lnSpc>
              <a:spcBef>
                <a:spcPts val="0"/>
              </a:spcBef>
              <a:spcAft>
                <a:spcPts val="0"/>
              </a:spcAft>
              <a:buNone/>
            </a:pPr>
            <a:r>
              <a:rPr lang="tr-TR" sz="1650" dirty="0">
                <a:solidFill>
                  <a:srgbClr val="38BDF8"/>
                </a:solidFill>
                <a:latin typeface="Inter"/>
                <a:ea typeface="Inter"/>
                <a:sym typeface="Inter"/>
              </a:rPr>
              <a:t>Bilgi Güvenliği 2</a:t>
            </a:r>
            <a:endParaRPr dirty="0"/>
          </a:p>
        </p:txBody>
      </p:sp>
    </p:spTree>
    <p:extLst>
      <p:ext uri="{BB962C8B-B14F-4D97-AF65-F5344CB8AC3E}">
        <p14:creationId xmlns:p14="http://schemas.microsoft.com/office/powerpoint/2010/main" val="3774912806"/>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2563</Words>
  <Application>Microsoft Office PowerPoint</Application>
  <PresentationFormat>Geniş ekran</PresentationFormat>
  <Paragraphs>208</Paragraphs>
  <Slides>24</Slides>
  <Notes>24</Notes>
  <HiddenSlides>0</HiddenSlides>
  <MMClips>0</MMClips>
  <ScaleCrop>false</ScaleCrop>
  <HeadingPairs>
    <vt:vector size="6" baseType="variant">
      <vt:variant>
        <vt:lpstr>Kullanılan Yazı Tipleri</vt:lpstr>
      </vt:variant>
      <vt:variant>
        <vt:i4>8</vt:i4>
      </vt:variant>
      <vt:variant>
        <vt:lpstr>Tema</vt:lpstr>
      </vt:variant>
      <vt:variant>
        <vt:i4>1</vt:i4>
      </vt:variant>
      <vt:variant>
        <vt:lpstr>Slayt Başlıkları</vt:lpstr>
      </vt:variant>
      <vt:variant>
        <vt:i4>24</vt:i4>
      </vt:variant>
    </vt:vector>
  </HeadingPairs>
  <TitlesOfParts>
    <vt:vector size="33" baseType="lpstr">
      <vt:lpstr>Calibri</vt:lpstr>
      <vt:lpstr>Fira Code SemiBold</vt:lpstr>
      <vt:lpstr>Inter SemiBold</vt:lpstr>
      <vt:lpstr>Fira Code</vt:lpstr>
      <vt:lpstr>Inter ExtraBold</vt:lpstr>
      <vt:lpstr>Arial</vt:lpstr>
      <vt:lpstr>Inter Medium</vt:lpstr>
      <vt:lpstr>Inter</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Ramazan Karatut</cp:lastModifiedBy>
  <cp:revision>2</cp:revision>
  <dcterms:modified xsi:type="dcterms:W3CDTF">2026-05-30T12:43:06Z</dcterms:modified>
</cp:coreProperties>
</file>